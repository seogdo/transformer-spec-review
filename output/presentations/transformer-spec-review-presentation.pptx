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66e40246e2496d" /><Relationship Type="http://schemas.openxmlformats.org/officeDocument/2006/relationships/extended-properties" Target="/docProps/app.xml" Id="R43ff1c179a2d41ca" /><Relationship Type="http://schemas.openxmlformats.org/officeDocument/2006/relationships/officeDocument" Target="/ppt/presentation.xml" Id="Rf9bea1d9bf1342ae" /></Relationships>
</file>

<file path=ppt/presentation.xml><?xml version="1.0" encoding="utf-8"?>
<p:presentation xmlns:p="http://schemas.openxmlformats.org/presentationml/2006/main">
  <p:sldMasterIdLst>
    <p:sldMasterId xmlns:r="http://schemas.openxmlformats.org/officeDocument/2006/relationships" id="2147483648" r:id="Rd53550e5b278406f"/>
  </p:sldMasterIdLst>
  <p:notesMasterIdLst>
    <p:notesMasterId xmlns:r="http://schemas.openxmlformats.org/officeDocument/2006/relationships" r:id="Rcfa017f284b64db2"/>
  </p:notesMasterIdLst>
  <p:sldIdLst>
    <p:sldId xmlns:r="http://schemas.openxmlformats.org/officeDocument/2006/relationships" id="256" r:id="Rf943121e190940d0"/>
    <p:sldId xmlns:r="http://schemas.openxmlformats.org/officeDocument/2006/relationships" id="257" r:id="Re84793dec79a417d"/>
    <p:sldId xmlns:r="http://schemas.openxmlformats.org/officeDocument/2006/relationships" id="258" r:id="R7b767de5e5664a73"/>
    <p:sldId xmlns:r="http://schemas.openxmlformats.org/officeDocument/2006/relationships" id="259" r:id="R4b50d62257d14258"/>
    <p:sldId xmlns:r="http://schemas.openxmlformats.org/officeDocument/2006/relationships" id="260" r:id="Rbaf66b52f7cc4723"/>
    <p:sldId xmlns:r="http://schemas.openxmlformats.org/officeDocument/2006/relationships" id="261" r:id="R44939a02c13f4223"/>
    <p:sldId xmlns:r="http://schemas.openxmlformats.org/officeDocument/2006/relationships" id="262" r:id="Re86c7813800548dd"/>
    <p:sldId xmlns:r="http://schemas.openxmlformats.org/officeDocument/2006/relationships" id="263" r:id="Rca2064e6028e466a"/>
    <p:sldId xmlns:r="http://schemas.openxmlformats.org/officeDocument/2006/relationships" id="264" r:id="Rebfb1a0d357849d7"/>
    <p:sldId xmlns:r="http://schemas.openxmlformats.org/officeDocument/2006/relationships" id="265" r:id="Rb8b3b68eafbd4295"/>
    <p:sldId xmlns:r="http://schemas.openxmlformats.org/officeDocument/2006/relationships" id="266" r:id="Reac6673a28524ba8"/>
    <p:sldId xmlns:r="http://schemas.openxmlformats.org/officeDocument/2006/relationships" id="267" r:id="Rd184ba32c507420f"/>
    <p:sldId xmlns:r="http://schemas.openxmlformats.org/officeDocument/2006/relationships" id="268" r:id="R3dc8feb6500e414c"/>
    <p:sldId xmlns:r="http://schemas.openxmlformats.org/officeDocument/2006/relationships" id="269" r:id="Rca61dc7158fe4856"/>
    <p:sldId xmlns:r="http://schemas.openxmlformats.org/officeDocument/2006/relationships" id="270" r:id="R372de70b7bf04575"/>
    <p:sldId xmlns:r="http://schemas.openxmlformats.org/officeDocument/2006/relationships" id="271" r:id="Rc32bbc50947a4c48"/>
    <p:sldId xmlns:r="http://schemas.openxmlformats.org/officeDocument/2006/relationships" id="272" r:id="R1cebcaaa0c504c6e"/>
    <p:sldId xmlns:r="http://schemas.openxmlformats.org/officeDocument/2006/relationships" id="273" r:id="R78905bb2985c480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c3790532a744b11" /><Relationship Type="http://schemas.openxmlformats.org/officeDocument/2006/relationships/slideMaster" Target="/ppt/slideMasters/slideMaster1.xml" Id="Rd53550e5b278406f" /><Relationship Type="http://schemas.openxmlformats.org/officeDocument/2006/relationships/notesMaster" Target="/ppt/notesMasters/notesMaster1.xml" Id="Rcfa017f284b64db2" /><Relationship Type="http://schemas.openxmlformats.org/officeDocument/2006/relationships/presProps" Target="/ppt/presProps.xml" Id="R658225076edd4dcf" /><Relationship Type="http://schemas.openxmlformats.org/officeDocument/2006/relationships/tableStyles" Target="/ppt/tableStyles.xml" Id="Re90a0adfc6f14a32" /><Relationship Type="http://schemas.openxmlformats.org/officeDocument/2006/relationships/slide" Target="/ppt/slides/slide1.xml" Id="Rf943121e190940d0" /><Relationship Type="http://schemas.openxmlformats.org/officeDocument/2006/relationships/slide" Target="/ppt/slides/slide2.xml" Id="Re84793dec79a417d" /><Relationship Type="http://schemas.openxmlformats.org/officeDocument/2006/relationships/slide" Target="/ppt/slides/slide3.xml" Id="R7b767de5e5664a73" /><Relationship Type="http://schemas.openxmlformats.org/officeDocument/2006/relationships/slide" Target="/ppt/slides/slide4.xml" Id="R4b50d62257d14258" /><Relationship Type="http://schemas.openxmlformats.org/officeDocument/2006/relationships/slide" Target="/ppt/slides/slide5.xml" Id="Rbaf66b52f7cc4723" /><Relationship Type="http://schemas.openxmlformats.org/officeDocument/2006/relationships/slide" Target="/ppt/slides/slide6.xml" Id="R44939a02c13f4223" /><Relationship Type="http://schemas.openxmlformats.org/officeDocument/2006/relationships/slide" Target="/ppt/slides/slide7.xml" Id="Re86c7813800548dd" /><Relationship Type="http://schemas.openxmlformats.org/officeDocument/2006/relationships/slide" Target="/ppt/slides/slide8.xml" Id="Rca2064e6028e466a" /><Relationship Type="http://schemas.openxmlformats.org/officeDocument/2006/relationships/slide" Target="/ppt/slides/slide9.xml" Id="Rebfb1a0d357849d7" /><Relationship Type="http://schemas.openxmlformats.org/officeDocument/2006/relationships/slide" Target="/ppt/slides/slide10.xml" Id="Rb8b3b68eafbd4295" /><Relationship Type="http://schemas.openxmlformats.org/officeDocument/2006/relationships/slide" Target="/ppt/slides/slide11.xml" Id="Reac6673a28524ba8" /><Relationship Type="http://schemas.openxmlformats.org/officeDocument/2006/relationships/slide" Target="/ppt/slides/slide12.xml" Id="Rd184ba32c507420f" /><Relationship Type="http://schemas.openxmlformats.org/officeDocument/2006/relationships/slide" Target="/ppt/slides/slide13.xml" Id="R3dc8feb6500e414c" /><Relationship Type="http://schemas.openxmlformats.org/officeDocument/2006/relationships/slide" Target="/ppt/slides/slide14.xml" Id="Rca61dc7158fe4856" /><Relationship Type="http://schemas.openxmlformats.org/officeDocument/2006/relationships/slide" Target="/ppt/slides/slide15.xml" Id="R372de70b7bf04575" /><Relationship Type="http://schemas.openxmlformats.org/officeDocument/2006/relationships/slide" Target="/ppt/slides/slide16.xml" Id="Rc32bbc50947a4c48" /><Relationship Type="http://schemas.openxmlformats.org/officeDocument/2006/relationships/slide" Target="/ppt/slides/slide17.xml" Id="R1cebcaaa0c504c6e" /><Relationship Type="http://schemas.openxmlformats.org/officeDocument/2006/relationships/slide" Target="/ppt/slides/slide18.xml" Id="R78905bb2985c48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5392ab98614c3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49b2bd0d5e4eee" /><Relationship Type="http://schemas.openxmlformats.org/officeDocument/2006/relationships/notesMaster" Target="/ppt/notesMasters/notesMaster1.xml" Id="R66991e97647c460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cede59dc5142f5" /><Relationship Type="http://schemas.openxmlformats.org/officeDocument/2006/relationships/notesMaster" Target="/ppt/notesMasters/notesMaster1.xml" Id="R09c3d55aacbb48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8a66197c5c4d67" /><Relationship Type="http://schemas.openxmlformats.org/officeDocument/2006/relationships/notesMaster" Target="/ppt/notesMasters/notesMaster1.xml" Id="R3b84f57133354f5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cd3614838f4821" /><Relationship Type="http://schemas.openxmlformats.org/officeDocument/2006/relationships/notesMaster" Target="/ppt/notesMasters/notesMaster1.xml" Id="Red6ec0f01b3d42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8353e6c1c14397" /><Relationship Type="http://schemas.openxmlformats.org/officeDocument/2006/relationships/notesMaster" Target="/ppt/notesMasters/notesMaster1.xml" Id="R878960fe18b54aa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a371736c2a458c" /><Relationship Type="http://schemas.openxmlformats.org/officeDocument/2006/relationships/notesMaster" Target="/ppt/notesMasters/notesMaster1.xml" Id="R61a792d62f0b43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cf072632964773" /><Relationship Type="http://schemas.openxmlformats.org/officeDocument/2006/relationships/notesMaster" Target="/ppt/notesMasters/notesMaster1.xml" Id="R2f83f5f3a9a8422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f71a2c51dd24552" /><Relationship Type="http://schemas.openxmlformats.org/officeDocument/2006/relationships/notesMaster" Target="/ppt/notesMasters/notesMaster1.xml" Id="R2c363552190c4978"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10a2a4dd85496a" /><Relationship Type="http://schemas.openxmlformats.org/officeDocument/2006/relationships/notesMaster" Target="/ppt/notesMasters/notesMaster1.xml" Id="Rc2f05f43367143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17b762f6d7240e3" /><Relationship Type="http://schemas.openxmlformats.org/officeDocument/2006/relationships/notesMaster" Target="/ppt/notesMasters/notesMaster1.xml" Id="R20c5b4604874474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f28e2114d645a2" /><Relationship Type="http://schemas.openxmlformats.org/officeDocument/2006/relationships/notesMaster" Target="/ppt/notesMasters/notesMaster1.xml" Id="R45bb7de46e3040f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50951b76584ece" /><Relationship Type="http://schemas.openxmlformats.org/officeDocument/2006/relationships/notesMaster" Target="/ppt/notesMasters/notesMaster1.xml" Id="R2d93eaa6152f43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d84ca1d28e438f" /><Relationship Type="http://schemas.openxmlformats.org/officeDocument/2006/relationships/notesMaster" Target="/ppt/notesMasters/notesMaster1.xml" Id="R84b65cd5a496403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e353216766f4a75" /><Relationship Type="http://schemas.openxmlformats.org/officeDocument/2006/relationships/notesMaster" Target="/ppt/notesMasters/notesMaster1.xml" Id="Rc4c62d0457bb43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717ba3965e64051" /><Relationship Type="http://schemas.openxmlformats.org/officeDocument/2006/relationships/notesMaster" Target="/ppt/notesMasters/notesMaster1.xml" Id="Ref7ef7d1952749f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25e14a1814a445b" /><Relationship Type="http://schemas.openxmlformats.org/officeDocument/2006/relationships/notesMaster" Target="/ppt/notesMasters/notesMaster1.xml" Id="Ra60c91c559ac466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decf0567a4245d7" /><Relationship Type="http://schemas.openxmlformats.org/officeDocument/2006/relationships/notesMaster" Target="/ppt/notesMasters/notesMaster1.xml" Id="R2b6730b2d6b748d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753d1aa1b8940ea" /><Relationship Type="http://schemas.openxmlformats.org/officeDocument/2006/relationships/notesMaster" Target="/ppt/notesMasters/notesMaster1.xml" Id="R71593a388ef64d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[0:00–0:08 / 본 발표 1장] 안녕하세요. G077 문성도입니다. 과제 2로 변압기 수주 기술사양 검토 AI를 만들었습니다. 본 발표는 9장이고 이후 9장은 질문용 부록입니다. 2분 동안 주제와 결과를 설명한 뒤 3분 동안 실제 코드를 설명합니다.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[0:08–0:25 / 본 발표 2장] 수주 확정 후 기술 인계회의 전에 고객 요구와 변경 합의가 내부 인계표에 반영됐는지 확인하는 서비스입니다. 상세 설계·구매로 넘어가기 전에 문서 차이를 찾아 담당자가 원문을 확인하도록 돕는 것이 목적입니다. 440 V와 380 V는 팬 보조전원 변경 미반영을 구성한 가상 사례이며 주회로 전압 예시가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[0:25–0:50 / 본 발표 3장] 입력은 고객 사양서, 변경 합의서, 내부 인계표의 텍스트 PDF 세 종류입니다. 고객사를 확인하고 근거를 검색해 값을 추출한 다음, 담당자가 적용할 변경을 확인하면 열 개 사양을 비교합니다. 양쪽 원문을 연결하고 결과 저장과 회의용 보고서까지 제공합니다. 스캔·도면·임의 문서 전체를 지원한다는 뜻은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[0:50–2:00 / 본 발표 4장] 이 화면은 직접 만든 가상 문서로 사전에 실제 실행한 결과입니다. 변경 합의서의 팬 전원 요구는 440 V인데 내부 인계표에는 380 V가 남아 있습니다. 결과는 아홉 항목 일치와 한 항목 불일치였습니다. 문서명, 페이지, 양쪽 원문을 함께 확인하고 검토 기록을 보관합니다. 회의용 보고서 기능은 부록에 있습니다.</a:t>
            </a:r>
          </a:p>
          <a:p xmlns:a="http://schemas.openxmlformats.org/drawingml/2006/main">
            <a:r>
              <a:t>[1:25부터 같은 화면 유지] Python 자동 검사 385개와 화면 모의 검사 65개를 통과했지만 실제 회사 문서의 AI 정확도는 아닙니다. 구현하면서 답을 만드는 것만큼 근거를 연결하고 애매한 값을 보류하는 과정이 중요하다는 점을 확인했습니다. 지정 형식의 가상 텍스트 PDF를 지원하며 다음에는 독립 문서 평가와 검색 방식·처리 지연 비교가 필요합니다. 설계 승인과 안전 판단은 수행하지 않습니다.</a:t>
            </a:r>
          </a:p>
          <a:p xmlns:a="http://schemas.openxmlformats.org/drawingml/2006/main">
            <a:r>
              <a:t>2:00에 반드시 다음 코드 설명으로 전환합니다. 실시간 AI 추출 대기는 5분에 포함하지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[2:00–2:45 / 본 발표 5장] extract_upload에서 첫 모델 호출로 검색 계획을 받고 Python이 내부 검색 함수를 실행합니다. 근거가 있으면 두 번째 호출로 값을 제안받고 검증합니다. 근거가 없으면 두 번째 호출을 생략합니다. 추출 작업 한 번은 최대 2회, 전체 90초 예산이며 시간 초과는 실패 처리합니다. 이 순서는 직접 구현한 Python 제어 흐름이지 LangGraph 실행 그래프가 아닙니다. Multi-Agent·MCP·LangGraph·LangSmith는 미사용입니다. MCP 연결 대신 내부 검색 함수를 직접 호출했습니다. 별도 AI 구조 확인 버튼은 추가 모델 요청 경로입니다.</a:t>
            </a:r>
          </a:p>
          <a:p xmlns:a="http://schemas.openxmlformats.org/drawingml/2006/main">
            <a:r>
              <a:t>실제 코드: extraction_agent.py 573·593·599–604·613·621·623·632·672행. 표는 실행 순서를 설명한 요약이며 실행 로그나 프레임워크 그래프 화면이 아닙니다. 정형 모드는 AI 단계를 거치지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[2:45–3:30 / 본 발표 6장] _search_documents의 입력은 문서 ID, 검토 항목과 검색어입니다. 지정 별칭으로 찾은 원문에 검색어 포함 점수를 매기고 페이지와 위치 순으로 정렬합니다. 검색 요청별 상위 두 개를 문자 예산 안에서 반환하며 문서 ID, 페이지, 인용문을 보존합니다. 반환한 근거는 다음 AI 추출 요청에 전달합니다. 이 부분이 검색 기반 생성 경로이며 임베딩 벡터 검색은 아닙니다. 검색에서 놓친 정보까지 알아낸다고 보장하지 않습니다.</a:t>
            </a:r>
          </a:p>
          <a:p xmlns:a="http://schemas.openxmlformats.org/drawingml/2006/main">
            <a:r>
              <a:t>실제 발췌 extraction_agent.py 314–322행. 전체 검색 300행, 결과 필드 구성 323–325행, 두 번째 AI 요청의 검색 결과 전달 654행입니다.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[3:30–4:15 / 본 발표 7장] _validate_proposal은 AI 인용이 실제 페이지와 검색 결과에 있는지 확인합니다. 화면의 수치 분기에서는 원문과 인용에 같은 값과 단위가 있는지, 해당 항목명에 직접 연결되는지를 검사합니다. 숫자가 문서 어딘가에 있다는 이유만으로 채택하지 않습니다. 미확정이나 부정 문맥, 여러 값과 조건이 있으면 거절 이유를 남기고 보류합니다. 확인되지 않은 값을 코드가 대신 만들어 넣지는 않습니다.</a:t>
            </a:r>
          </a:p>
          <a:p xmlns:a="http://schemas.openxmlformats.org/drawingml/2006/main">
            <a:r>
              <a:t>실제 발췌 extraction_agent.py 544–551행. 전체 검증 497행, 보류 처리 672행입니다.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[4:15–4:40 / 본 발표 8장] 최종 비교는 review_case가 수행합니다. 먼저 명시된 변경 적용 관계를 확인하고 단위와 조건을 맞춥니다. 같은 값은 일치, 다르면 불일치이고 출처나 조건이 불확실하면 확인 필요입니다. 승인 표시는 데모 메타데이터이며 실제 결재 권한을 인증하지는 않습니다.</a:t>
            </a:r>
          </a:p>
          <a:p xmlns:a="http://schemas.openxmlformats.org/drawingml/2006/main">
            <a:r>
              <a:t>실제 발췌 review.py 193–200행. 함수 시작 40행, 변경 관계 122–150행. 명시적 누락 MISSING은 발췌 앞 분기입니다.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[4:40–5:00 / 본 발표 9장] request_fn에 고정 응답 함수를 넣으면 실제 AI 없이 같은 조건을 반복 검사할 수 있습니다. 예시 검사는 두 번의 요청과 입력 보존을 확인합니다. PDF 처리, 추출, 비교와 API를 모듈로 나누고 불확실한 값은 담당자에게 남기도록 구현했습니다. 감사합니다.</a:t>
            </a:r>
          </a:p>
          <a:p xmlns:a="http://schemas.openxmlformats.org/drawingml/2006/main">
            <a:r>
              <a:t>실제 발췌 tests/test_extraction_agent.py 86–94행. 주입 지점 extraction_agent.py 573·593행입니다. 이 예시는 정상 경로 2회 호출을 확인하는 모의 시험이며 모델 정확도가 아닙니다. 이후는 질문·보충용 부록입니다.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처리 주체를 나눈 것이 핵심 설계입니다. AI는 첫 호출에서 지정된 항목과 별칭으로 검색 계획을 만들고, 두 번째 호출에서 검색된 원문의 값과 단위를 제안합니다. 검색 실행과 인용 검증, 단위 정규화, 변경 적용, 최종 상태 비교는 코드가 수행합니다. 담당자는 적용할 변경 기준과 결과의 원문을 확인합니다. 정상 추출 경로는 최대 두 번의 모델 호출이며, 사람의 체크가 실제 전자결재나 승인 권한 인증은 아닙니다.</a:t>
            </a:r>
          </a:p>
          <a:p xmlns:a="http://schemas.openxmlformats.org/drawingml/2006/main">
            <a:r>
              <a:t>출처: extraction_agent.py:300,497,573,613,632; review.py:113; web/app.js:556.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기술 요소는 많이 나열하기보다 문제에 필요한 것을 선택했습니다. 현재 RAG는 임베딩 벡터가 아니라 키워드와 별칭으로 원문을 찾아 AI에 전달하는 제한된 검색 방식입니다. 모델 출력은 JSON 스키마와 원문으로 검사하며, 주파수처럼 값이 없으면 임의로 채우지 않습니다. request_fn을 주입해 실제 모델 없이 오류와 경계 조건을 시험합니다. 웹 API, 추출, 비교, 보고서도 모듈로 분리했습니다. Multi-Agent, MCP, LangSmith는 구현하지 않았습니다.</a:t>
            </a:r>
          </a:p>
          <a:p xmlns:a="http://schemas.openxmlformats.org/drawingml/2006/main">
            <a:r>
              <a:t>출처: extraction_agent.py:300,497,573; web_app.py; report.py; tests/test_extraction_agent.py.</a:t>
            </a:r>
          </a:p>
          <a:p xmlns:a="http://schemas.openxmlformats.org/drawingml/2006/main">
            <a:r>
              <a:t>선택하지 않은 기술도 이유를 설명합니다. 문서 3종·고정된 검토 항목에서는 역할별 여러 에이전트와 외부 도구 서버가 꼭 필요하지 않았습니다. request_fn 주입과 제한된 순차 흐름으로 검증을 단순하게 유지했습니다. 로컬 실행 기록으로 개발 경로를 확인하지만 외부 LangSmith 관측 체계는 연결하지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세 가지 가상 문서를 실제 모델과 화면으로 확인했습니다. V01은 팬 전원 불일치 한 개, V02는 주파수 미기재에 따른 확인 필요 한 개, V03는 탭절환기 방식과 설치 구분 불일치 두 개였습니다. 각 행은 열 개 검토 항목의 상태 수이며 AI 정확도 비율이 아닙니다. 이와 별도로 전체 파이썬 자동 검사 385개와 모의 화면 검사 65개를 다시 실행해 통과했습니다. 자동 검사는 코드의 규칙과 실패 대응을 확인한 것이고 실제 회사 문서의 모델 정확도나 업무시간 절감률은 아직 측정하지 않았습니다.</a:t>
            </a:r>
          </a:p>
          <a:p xmlns:a="http://schemas.openxmlformats.org/drawingml/2006/main">
            <a:r>
              <a:t>출처: docs/publication.md, 2026-10-21 자동검사 재검증. 실제 모델·외부 서비스 신규 호출은 0회입니다. V01/V02/V03 결과는 앞서 확인한 실제 시연 기록입니다. DOM 세부: 근거12, 복구39, 보고서14. 결과 합계: 각 행10.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먼저 문서 형식을 제한해 원문과 값을 검증하기 쉽게 만들었지만, 실제 회사의 다양한 문서를 바로 넣을 수는 없습니다. 두 번째로 확실하지 않은 값은 보류하는 쪽으로 설계했습니다. 잘못된 확정을 줄이려는 선택이지만 사람의 확인 부담이 늘고 정상적인 조건 표현도 보류될 수 있습니다. 세 번째로 로컬 모델과 키워드 검색을 사용해 외부 AI API 없이 실행하지만, 지원하지 않는 표현을 놓칠 수 있고 PC 성능에 따라 시간이 달라집니다. 후속 과제는 실제 양식의 독립 평가와 단일 호출·2회 호출·검색 방식의 동일 입력 비교입니다.</a:t>
            </a:r>
          </a:p>
          <a:p xmlns:a="http://schemas.openxmlformats.org/drawingml/2006/main">
            <a:r>
              <a:t>출처: README.md 지원 범위, extraction_agent.py 검증 경로, docs/publication.md.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F04는 인계서에 팬 전원 400볼트와 440볼트가 함께 있는 가상 개발 사례입니다. 이전 저장 결과는 이미 확인 필요 상태였지만 화면 근거에는 400볼트만 보이고 evidence_complete가 true였습니다. 현재 코드는 같은 PDF와 당시 저장된 두 모델 응답을 고정해 오프라인 재생했습니다. 충돌 근거 값 종류는 하나에서 두 개로 표시되고 evidence_complete는 false로 바로잡았습니다. 10개 항목의 상태와 정규화값은 동일하게 보존했습니다. 실제 AI 모델 호출은 0회이며, 이전 소스 코드를 새로 실행한 동일 조건 성능 비교는 아닙니다. 이전 기록과 현재 재생을 비교한 제한된 근거 표시 개선 측정이며, 보너스 인정 여부를 확정하지 않습니다.</a:t>
            </a:r>
          </a:p>
          <a:p xmlns:a="http://schemas.openxmlformats.org/drawingml/2006/main">
            <a:r>
              <a:t>출처: reports/evidence-before-after-20261020T111053Z-4e8705ae.json; scripts/measure_evidence_before_after.py; tests/test_evidence_binding.py. 입력과 응답 해시, 출처 차이는 측정보고서에 기록했습니다.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F04 수정 후 화면] output/evidence-conflict-fix.png의 실제 기존 화면을 비율 유지해 삽입했습니다. 400 V와 440 V가 함께 있는 내부 인계서의 두 근거를 확인 필요 상태로 노출합니다. 판정은 기존에도 확인 필요였고 그 상태는 유지했습니다. 앞 장은 동일 PDF·당시 저장된 모델 응답을 고정한 현재 코드 재생과 이전 저장 결과의 제한된 비교입니다. 이 화면은 수정 후 화면만 존재합니다. 이전 소스를 새로 실행하거나 수정 전 UI 화면을 확보한 정식 전후 성능 실험은 아닙니다. 지연·비용·정확도 개선 수치는 주장하지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마지막으로 담당자가 결과와 원문을 확인하면 회의용 보고서를 열 수 있습니다. 저장된 판정과 인용을 그대로 보여주며 모델을 다시 부르거나 원본 기록을 바꾸지 않습니다. V03 기록을 크롬에서 아홉 쪽 PDF로 저장했고, 원문 인용 스무 개와 저장 파일 스물두 개가 유지되는 것을 확인했습니다. 이 서비스가 제공하는 가치는 여러 문서의 차이와 근거를 한 흐름에서 확인하도록 돕는 것입니다. 설계 승인과 최종 판단은 담당자에게 남겼습니다. 감사합니다.</a:t>
            </a:r>
          </a:p>
          <a:p xmlns:a="http://schemas.openxmlformats.org/drawingml/2006/main">
            <a:r>
              <a:t>출처: report.py; docs/meeting-report.md. 이미지: output/meeting-report-preview.png. 공개 저장소: https://github.com/seogdo/transformer-spec-review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평가 근거] 기능 동작, 기술 선택, 한계와 2분 결과·3분 코드 설명을 연결했습니다. 추가 공지에 맞춰 첫 페이지 G077 문성도, 주요 task, 최종 실행 화면, 느낀 점·개선 방향을 반영했습니다. 실측 비교 보너스는 확정하지 않습니다. F04 자료는 이전 저장 기록 대 현재 코드의 기록 응답 재생 비교로, 이전 소스 신규 실행 및 실제 AI 성능 실험은 아닙니다. 수정 전 화면 캡처가 없어 정식 전후 화면 실험의 완비를 주장하지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추가 질의 준비입니다.</a:t>
            </a:r>
          </a:p>
          <a:p xmlns:a="http://schemas.openxmlformats.org/drawingml/2006/main">
            <a:r>
              <a:t>1. 정규식으로도 가능한데 AI가 필요한가요: 제한된 현재 형식에서는 가능합니다. AI는 원문에서 값을 제안하지만 2회 호출의 추가 효용은 별도 비교해야 합니다.</a:t>
            </a:r>
          </a:p>
          <a:p xmlns:a="http://schemas.openxmlformats.org/drawingml/2006/main">
            <a:r>
              <a:t>2. 어디가 RAG인가요: 검색 계획을 받아 관련 원문을 검색하고 그 결과를 다음 추출 호출에 제공합니다. 벡터 검색이나 MCP는 사용하지 않았습니다.</a:t>
            </a:r>
          </a:p>
          <a:p xmlns:a="http://schemas.openxmlformats.org/drawingml/2006/main">
            <a:r>
              <a:t>3. 정확도와 시간 절감률은: 자동검사 통과와 소량 가상 시연은 확인했지만 실제 회사 문서의 독립 정확도와 수작업 대비 시간은 측정하지 않았습니다.</a:t>
            </a:r>
          </a:p>
          <a:p xmlns:a="http://schemas.openxmlformats.org/drawingml/2006/main">
            <a:r>
              <a:t>4. 사람이 체크하면 승인인가요: 실제 결재가 아닙니다. 사용자가 원문을 확인했다는 화면 절차이며 승인 권한은 인증하지 않습니다.</a:t>
            </a:r>
          </a:p>
          <a:p xmlns:a="http://schemas.openxmlformats.org/drawingml/2006/main">
            <a:r>
              <a:t>5. 구조화된 D01/D02도 AI인가요: 정형 경로는 코드만 사용합니다. 실제 AI 시연은 V01/V02/V03를 사용합니다.</a:t>
            </a:r>
          </a:p>
          <a:p xmlns:a="http://schemas.openxmlformats.org/drawingml/2006/main">
            <a:r>
              <a:t>출처: README.md; extraction_agent.py; web_app.py; docs/publication.md.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7b0579b12442e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9d148d4f63f4a5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a308344a0664b0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b9f2e6f0399496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b99c5fd209747c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70e08b5eefe41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2C66B5-74CA-456A-B036-CC900748F49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2FBED1-3988-49EA-845E-F086613BA3C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0D411C-880C-4E6F-B0B2-2FF7804D6CB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F02E7E-1086-4648-95AC-C3AF14961A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28601-E123-4B7C-BFBD-5FE56F21441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38A42E3-C1AE-4178-A097-BD1D28FF40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41E762-FF9A-4047-9477-0BE71426D8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58AEE4B-8BF4-44F2-A793-AB680D19F8D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7CC43C-FAA6-4465-A7DF-E559725E58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2D020D-CA8E-4FD4-942C-E2842BC485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2b87a937b794423" /><Relationship Type="http://schemas.openxmlformats.org/officeDocument/2006/relationships/slideLayout" Target="/ppt/slideLayouts/slideLayout1.xml" Id="R7cd3c6e0ee374621" /><Relationship Type="http://schemas.openxmlformats.org/officeDocument/2006/relationships/slideLayout" Target="/ppt/slideLayouts/slideLayout2.xml" Id="R29ebc3afeb234e44" /><Relationship Type="http://schemas.openxmlformats.org/officeDocument/2006/relationships/slideLayout" Target="/ppt/slideLayouts/slideLayout3.xml" Id="R947255428c24431f" /><Relationship Type="http://schemas.openxmlformats.org/officeDocument/2006/relationships/slideLayout" Target="/ppt/slideLayouts/slideLayout4.xml" Id="Rd5961f54179e4a25" /><Relationship Type="http://schemas.openxmlformats.org/officeDocument/2006/relationships/slideLayout" Target="/ppt/slideLayouts/slideLayout5.xml" Id="R0e94ebba658049d6" /><Relationship Type="http://schemas.openxmlformats.org/officeDocument/2006/relationships/slideLayout" Target="/ppt/slideLayouts/slideLayout6.xml" Id="R0e638cd72c4942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d3c6e0ee374621"/>
    <p:sldLayoutId xmlns:r="http://schemas.openxmlformats.org/officeDocument/2006/relationships" id="2147483650" r:id="R29ebc3afeb234e44"/>
    <p:sldLayoutId xmlns:r="http://schemas.openxmlformats.org/officeDocument/2006/relationships" id="2147483651" r:id="R947255428c24431f"/>
    <p:sldLayoutId xmlns:r="http://schemas.openxmlformats.org/officeDocument/2006/relationships" id="2147483652" r:id="Rd5961f54179e4a25"/>
    <p:sldLayoutId xmlns:r="http://schemas.openxmlformats.org/officeDocument/2006/relationships" id="2147483653" r:id="R0e94ebba658049d6"/>
    <p:sldLayoutId xmlns:r="http://schemas.openxmlformats.org/officeDocument/2006/relationships" id="2147483654" r:id="R0e638cd72c4942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7a9d6aa5f614431" /><Relationship Type="http://schemas.openxmlformats.org/officeDocument/2006/relationships/notesSlide" Target="/ppt/notesSlides/notesSlide1.xml" Id="Rcd2ef5096c2d41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6f77df749064bad" /><Relationship Type="http://schemas.openxmlformats.org/officeDocument/2006/relationships/notesSlide" Target="/ppt/notesSlides/notesSlide2.xml" Id="Rc244644363db4de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a01ae2061bb4d26" /><Relationship Type="http://schemas.openxmlformats.org/officeDocument/2006/relationships/notesSlide" Target="/ppt/notesSlides/notesSlide3.xml" Id="R853c931a576d41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8decbecc2e43ab" /><Relationship Type="http://schemas.openxmlformats.org/officeDocument/2006/relationships/image" Target="/ppt/media/image.jpeg" Id="R75b7792dfc2f4aac" /><Relationship Type="http://schemas.openxmlformats.org/officeDocument/2006/relationships/notesSlide" Target="/ppt/notesSlides/notesSlide4.xml" Id="R6c62aa47888049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bee8534cf7a4b01" /><Relationship Type="http://schemas.openxmlformats.org/officeDocument/2006/relationships/notesSlide" Target="/ppt/notesSlides/notesSlide5.xml" Id="R16d31f471ab94e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1ec4509ad4c40c6" /><Relationship Type="http://schemas.openxmlformats.org/officeDocument/2006/relationships/notesSlide" Target="/ppt/notesSlides/notesSlide6.xml" Id="Rdaaeb3ab1a254c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bcb703e6fe743ea" /><Relationship Type="http://schemas.openxmlformats.org/officeDocument/2006/relationships/notesSlide" Target="/ppt/notesSlides/notesSlide7.xml" Id="R2d16a74034134b0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92d4c3c6cd4380" /><Relationship Type="http://schemas.openxmlformats.org/officeDocument/2006/relationships/notesSlide" Target="/ppt/notesSlides/notesSlide8.xml" Id="R47d58bd5d32d4c3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6e21e7a66084132" /><Relationship Type="http://schemas.openxmlformats.org/officeDocument/2006/relationships/notesSlide" Target="/ppt/notesSlides/notesSlide9.xml" Id="R8647f872721147e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0aea78c201a48da" /><Relationship Type="http://schemas.openxmlformats.org/officeDocument/2006/relationships/notesSlide" Target="/ppt/notesSlides/notesSlide10.xml" Id="Rdbffbdb04d0f44d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d3fa136070b4200" /><Relationship Type="http://schemas.openxmlformats.org/officeDocument/2006/relationships/notesSlide" Target="/ppt/notesSlides/notesSlide11.xml" Id="R1d9f3e0cf5e34a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174acd6a7334254" /><Relationship Type="http://schemas.openxmlformats.org/officeDocument/2006/relationships/notesSlide" Target="/ppt/notesSlides/notesSlide12.xml" Id="Rbc8d7ca2fc6943d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f65bfa370834374" /><Relationship Type="http://schemas.openxmlformats.org/officeDocument/2006/relationships/notesSlide" Target="/ppt/notesSlides/notesSlide13.xml" Id="R401620b4fe0e461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333b41f53ab4e6f" /><Relationship Type="http://schemas.openxmlformats.org/officeDocument/2006/relationships/notesSlide" Target="/ppt/notesSlides/notesSlide14.xml" Id="R31ec9c60087341a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a6def582fea4698" /><Relationship Type="http://schemas.openxmlformats.org/officeDocument/2006/relationships/image" Target="/ppt/media/image2.jpeg" Id="Rd0e7fa292181442b" /><Relationship Type="http://schemas.openxmlformats.org/officeDocument/2006/relationships/image" Target="/ppt/media/image3.jpeg" Id="R29e3e3319d80440a" /><Relationship Type="http://schemas.openxmlformats.org/officeDocument/2006/relationships/notesSlide" Target="/ppt/notesSlides/notesSlide15.xml" Id="R15bbd1a0baaf42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3ddd9aadee44e42" /><Relationship Type="http://schemas.openxmlformats.org/officeDocument/2006/relationships/image" Target="/ppt/media/image4.jpeg" Id="R6b27a662aed34c52" /><Relationship Type="http://schemas.openxmlformats.org/officeDocument/2006/relationships/notesSlide" Target="/ppt/notesSlides/notesSlide16.xml" Id="Rd19144c5f6e64a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26968f2020347fd" /><Relationship Type="http://schemas.openxmlformats.org/officeDocument/2006/relationships/notesSlide" Target="/ppt/notesSlides/notesSlide17.xml" Id="R217b40394be9437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a3bd5e35d9543f4" /><Relationship Type="http://schemas.openxmlformats.org/officeDocument/2006/relationships/notesSlide" Target="/ppt/notesSlides/notesSlide18.xml" Id="R2f9df85ff324432c" /></Relationships>
</file>

<file path=ppt/slides/slide1.xml><?xml version="1.0" encoding="utf-8"?>
<p:sld xmlns:p="http://schemas.openxmlformats.org/presentationml/2006/main">
  <p:cSld>
    <p:bg>
      <p:bgPr>
        <a:solidFill xmlns:a="http://schemas.openxmlformats.org/drawingml/2006/main">
          <a:srgbClr val="14323B"/>
        </a:solidFill>
      </p:bgPr>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5751220-0AFA-46A8-91B7-B24EC6B8B45C}"/>
              </a:ext>
            </a:extLst>
          </p:cNvPr>
          <p:cNvSpPr>
            <a:spLocks xmlns:a="http://schemas.openxmlformats.org/drawingml/2006/main" noGrp="1"/>
          </p:cNvSpPr>
          <p:nvPr/>
        </p:nvSpPr>
        <p:spPr>
          <a:xfrm xmlns:a="http://schemas.openxmlformats.org/drawingml/2006/main">
            <a:off x="685800" y="1476375"/>
            <a:ext cx="10668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650" b="1">
                <a:solidFill>
                  <a:srgbClr val="FFFFFF"/>
                </a:solidFill>
                <a:latin typeface="Arial Unicode MS"/>
                <a:ea typeface="Arial Unicode MS"/>
                <a:cs typeface="Arial Unicode MS"/>
              </a:defRPr>
            </a:defPPr>
            <a:lvl1pPr>
              <a:buNone/>
              <a:defRPr sz="4650" b="1">
                <a:solidFill>
                  <a:srgbClr val="FFFFFF"/>
                </a:solidFill>
                <a:latin typeface="Arial Unicode MS"/>
                <a:ea typeface="Arial Unicode MS"/>
                <a:cs typeface="Arial Unicode MS"/>
              </a:defRPr>
            </a:lvl1pPr>
            <a:lvl2pPr>
              <a:buNone/>
              <a:defRPr sz="4650" b="1">
                <a:solidFill>
                  <a:srgbClr val="FFFFFF"/>
                </a:solidFill>
                <a:latin typeface="Arial Unicode MS"/>
                <a:ea typeface="Arial Unicode MS"/>
                <a:cs typeface="Arial Unicode MS"/>
              </a:defRPr>
            </a:lvl2pPr>
            <a:lvl3pPr>
              <a:buNone/>
              <a:defRPr sz="4650" b="1">
                <a:solidFill>
                  <a:srgbClr val="FFFFFF"/>
                </a:solidFill>
                <a:latin typeface="Arial Unicode MS"/>
                <a:ea typeface="Arial Unicode MS"/>
                <a:cs typeface="Arial Unicode MS"/>
              </a:defRPr>
            </a:lvl3pPr>
            <a:lvl4pPr>
              <a:buNone/>
              <a:defRPr sz="4650" b="1">
                <a:solidFill>
                  <a:srgbClr val="FFFFFF"/>
                </a:solidFill>
                <a:latin typeface="Arial Unicode MS"/>
                <a:ea typeface="Arial Unicode MS"/>
                <a:cs typeface="Arial Unicode MS"/>
              </a:defRPr>
            </a:lvl4pPr>
            <a:lvl5pPr>
              <a:buNone/>
              <a:defRPr sz="4650" b="1">
                <a:solidFill>
                  <a:srgbClr val="FFFFFF"/>
                </a:solidFill>
                <a:latin typeface="Arial Unicode MS"/>
                <a:ea typeface="Arial Unicode MS"/>
                <a:cs typeface="Arial Unicode MS"/>
              </a:defRPr>
            </a:lvl5pPr>
            <a:lvl6pPr>
              <a:buNone/>
              <a:defRPr sz="4650" b="1">
                <a:solidFill>
                  <a:srgbClr val="FFFFFF"/>
                </a:solidFill>
                <a:latin typeface="Arial Unicode MS"/>
                <a:ea typeface="Arial Unicode MS"/>
                <a:cs typeface="Arial Unicode MS"/>
              </a:defRPr>
            </a:lvl6pPr>
            <a:lvl7pPr>
              <a:buNone/>
              <a:defRPr sz="4650" b="1">
                <a:solidFill>
                  <a:srgbClr val="FFFFFF"/>
                </a:solidFill>
                <a:latin typeface="Arial Unicode MS"/>
                <a:ea typeface="Arial Unicode MS"/>
                <a:cs typeface="Arial Unicode MS"/>
              </a:defRPr>
            </a:lvl7pPr>
            <a:lvl8pPr>
              <a:buNone/>
              <a:defRPr sz="4650" b="1">
                <a:solidFill>
                  <a:srgbClr val="FFFFFF"/>
                </a:solidFill>
                <a:latin typeface="Arial Unicode MS"/>
                <a:ea typeface="Arial Unicode MS"/>
                <a:cs typeface="Arial Unicode MS"/>
              </a:defRPr>
            </a:lvl8pPr>
            <a:lvl9pPr>
              <a:buNone/>
              <a:defRPr sz="4650" b="1">
                <a:solidFill>
                  <a:srgbClr val="FFFFFF"/>
                </a:solidFill>
                <a:latin typeface="Arial Unicode MS"/>
                <a:ea typeface="Arial Unicode MS"/>
                <a:cs typeface="Arial Unicode MS"/>
              </a:defRPr>
            </a:lvl9pPr>
          </a:lstStyle>
          <a:p xmlns:a="http://schemas.openxmlformats.org/drawingml/2006/main">
            <a:pPr>
              <a:buNone/>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변압기 수주</a:t>
            </a:r>
          </a:p>
          <a:p xmlns:a="http://schemas.openxmlformats.org/drawingml/2006/main">
            <a:pPr>
              <a:buNone/>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기술사양 검토 AI</a:t>
            </a:r>
          </a:p>
        </p:txBody>
      </p:sp>
      <p:sp>
        <p:nvSpPr>
          <p:cNvPr id="2" name="subtitle">
            <a:extLst xmlns:a="http://schemas.openxmlformats.org/drawingml/2006/main">
              <a:ext uri="{FF2B5EF4-FFF2-40B4-BE49-F238E27FC236}">
                <a16:creationId xmlns:a16="http://schemas.microsoft.com/office/drawing/2014/main" id="{022653C3-E6D2-46C2-9F34-7B2278321D7E}"/>
              </a:ext>
            </a:extLst>
          </p:cNvPr>
          <p:cNvSpPr>
            <a:spLocks xmlns:a="http://schemas.openxmlformats.org/drawingml/2006/main" noGrp="1"/>
          </p:cNvSpPr>
          <p:nvPr/>
        </p:nvSpPr>
        <p:spPr>
          <a:xfrm xmlns:a="http://schemas.openxmlformats.org/drawingml/2006/main">
            <a:off x="723900" y="38100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C9E5DE"/>
                </a:solidFill>
                <a:latin typeface="Arial Unicode MS"/>
                <a:ea typeface="Arial Unicode MS"/>
                <a:cs typeface="Arial Unicode MS"/>
              </a:defRPr>
            </a:defPPr>
            <a:lvl1pPr>
              <a:buNone/>
              <a:defRPr sz="2025" b="0">
                <a:solidFill>
                  <a:srgbClr val="C9E5DE"/>
                </a:solidFill>
                <a:latin typeface="Arial Unicode MS"/>
                <a:ea typeface="Arial Unicode MS"/>
                <a:cs typeface="Arial Unicode MS"/>
              </a:defRPr>
            </a:lvl1pPr>
            <a:lvl2pPr>
              <a:buNone/>
              <a:defRPr sz="2025" b="0">
                <a:solidFill>
                  <a:srgbClr val="C9E5DE"/>
                </a:solidFill>
                <a:latin typeface="Arial Unicode MS"/>
                <a:ea typeface="Arial Unicode MS"/>
                <a:cs typeface="Arial Unicode MS"/>
              </a:defRPr>
            </a:lvl2pPr>
            <a:lvl3pPr>
              <a:buNone/>
              <a:defRPr sz="2025" b="0">
                <a:solidFill>
                  <a:srgbClr val="C9E5DE"/>
                </a:solidFill>
                <a:latin typeface="Arial Unicode MS"/>
                <a:ea typeface="Arial Unicode MS"/>
                <a:cs typeface="Arial Unicode MS"/>
              </a:defRPr>
            </a:lvl3pPr>
            <a:lvl4pPr>
              <a:buNone/>
              <a:defRPr sz="2025" b="0">
                <a:solidFill>
                  <a:srgbClr val="C9E5DE"/>
                </a:solidFill>
                <a:latin typeface="Arial Unicode MS"/>
                <a:ea typeface="Arial Unicode MS"/>
                <a:cs typeface="Arial Unicode MS"/>
              </a:defRPr>
            </a:lvl4pPr>
            <a:lvl5pPr>
              <a:buNone/>
              <a:defRPr sz="2025" b="0">
                <a:solidFill>
                  <a:srgbClr val="C9E5DE"/>
                </a:solidFill>
                <a:latin typeface="Arial Unicode MS"/>
                <a:ea typeface="Arial Unicode MS"/>
                <a:cs typeface="Arial Unicode MS"/>
              </a:defRPr>
            </a:lvl5pPr>
            <a:lvl6pPr>
              <a:buNone/>
              <a:defRPr sz="2025" b="0">
                <a:solidFill>
                  <a:srgbClr val="C9E5DE"/>
                </a:solidFill>
                <a:latin typeface="Arial Unicode MS"/>
                <a:ea typeface="Arial Unicode MS"/>
                <a:cs typeface="Arial Unicode MS"/>
              </a:defRPr>
            </a:lvl6pPr>
            <a:lvl7pPr>
              <a:buNone/>
              <a:defRPr sz="2025" b="0">
                <a:solidFill>
                  <a:srgbClr val="C9E5DE"/>
                </a:solidFill>
                <a:latin typeface="Arial Unicode MS"/>
                <a:ea typeface="Arial Unicode MS"/>
                <a:cs typeface="Arial Unicode MS"/>
              </a:defRPr>
            </a:lvl7pPr>
            <a:lvl8pPr>
              <a:buNone/>
              <a:defRPr sz="2025" b="0">
                <a:solidFill>
                  <a:srgbClr val="C9E5DE"/>
                </a:solidFill>
                <a:latin typeface="Arial Unicode MS"/>
                <a:ea typeface="Arial Unicode MS"/>
                <a:cs typeface="Arial Unicode MS"/>
              </a:defRPr>
            </a:lvl8pPr>
            <a:lvl9pPr>
              <a:buNone/>
              <a:defRPr sz="2025" b="0">
                <a:solidFill>
                  <a:srgbClr val="C9E5DE"/>
                </a:solidFill>
                <a:latin typeface="Arial Unicode MS"/>
                <a:ea typeface="Arial Unicode MS"/>
                <a:cs typeface="Arial Unicode MS"/>
              </a:defRPr>
            </a:lvl9pPr>
          </a:lstStyle>
          <a:p xmlns:a="http://schemas.openxmlformats.org/drawingml/2006/main">
            <a:pPr>
              <a:buNone/>
              <a:defRPr sz="2025" b="0">
                <a:solidFill>
                  <a:srgbClr val="C9E5DE"/>
                </a:solidFill>
                <a:latin typeface="Arial Unicode MS"/>
                <a:ea typeface="Arial Unicode MS"/>
                <a:cs typeface="Arial Unicode MS"/>
              </a:defRPr>
            </a:pPr>
            <a:r>
              <a:rPr sz="2025" b="0">
                <a:solidFill>
                  <a:srgbClr val="C9E5DE"/>
                </a:solidFill>
                <a:latin typeface="Arial Unicode MS"/>
                <a:ea typeface="Arial Unicode MS"/>
                <a:cs typeface="Arial Unicode MS"/>
              </a:rPr>
              <a:t>수주 확정 후 기술 인계회의 전, 변경 누락을 원문으로 확인합니다</a:t>
            </a:r>
          </a:p>
        </p:txBody>
      </p:sp>
      <p:sp>
        <p:nvSpPr>
          <p:cNvPr id="3" name="author">
            <a:extLst xmlns:a="http://schemas.openxmlformats.org/drawingml/2006/main">
              <a:ext uri="{FF2B5EF4-FFF2-40B4-BE49-F238E27FC236}">
                <a16:creationId xmlns:a16="http://schemas.microsoft.com/office/drawing/2014/main" id="{2C8D70A6-5AB2-4F64-A9A3-CC94376EDCAA}"/>
              </a:ext>
            </a:extLst>
          </p:cNvPr>
          <p:cNvSpPr>
            <a:spLocks xmlns:a="http://schemas.openxmlformats.org/drawingml/2006/main" noGrp="1"/>
          </p:cNvSpPr>
          <p:nvPr/>
        </p:nvSpPr>
        <p:spPr>
          <a:xfrm xmlns:a="http://schemas.openxmlformats.org/drawingml/2006/main">
            <a:off x="723900" y="582930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C9E5DE"/>
                </a:solidFill>
                <a:latin typeface="Arial Unicode MS"/>
                <a:ea typeface="Arial Unicode MS"/>
                <a:cs typeface="Arial Unicode MS"/>
              </a:defRPr>
            </a:defPPr>
            <a:lvl1pPr>
              <a:buNone/>
              <a:defRPr sz="1425" b="0">
                <a:solidFill>
                  <a:srgbClr val="C9E5DE"/>
                </a:solidFill>
                <a:latin typeface="Arial Unicode MS"/>
                <a:ea typeface="Arial Unicode MS"/>
                <a:cs typeface="Arial Unicode MS"/>
              </a:defRPr>
            </a:lvl1pPr>
            <a:lvl2pPr>
              <a:buNone/>
              <a:defRPr sz="1425" b="0">
                <a:solidFill>
                  <a:srgbClr val="C9E5DE"/>
                </a:solidFill>
                <a:latin typeface="Arial Unicode MS"/>
                <a:ea typeface="Arial Unicode MS"/>
                <a:cs typeface="Arial Unicode MS"/>
              </a:defRPr>
            </a:lvl2pPr>
            <a:lvl3pPr>
              <a:buNone/>
              <a:defRPr sz="1425" b="0">
                <a:solidFill>
                  <a:srgbClr val="C9E5DE"/>
                </a:solidFill>
                <a:latin typeface="Arial Unicode MS"/>
                <a:ea typeface="Arial Unicode MS"/>
                <a:cs typeface="Arial Unicode MS"/>
              </a:defRPr>
            </a:lvl3pPr>
            <a:lvl4pPr>
              <a:buNone/>
              <a:defRPr sz="1425" b="0">
                <a:solidFill>
                  <a:srgbClr val="C9E5DE"/>
                </a:solidFill>
                <a:latin typeface="Arial Unicode MS"/>
                <a:ea typeface="Arial Unicode MS"/>
                <a:cs typeface="Arial Unicode MS"/>
              </a:defRPr>
            </a:lvl4pPr>
            <a:lvl5pPr>
              <a:buNone/>
              <a:defRPr sz="1425" b="0">
                <a:solidFill>
                  <a:srgbClr val="C9E5DE"/>
                </a:solidFill>
                <a:latin typeface="Arial Unicode MS"/>
                <a:ea typeface="Arial Unicode MS"/>
                <a:cs typeface="Arial Unicode MS"/>
              </a:defRPr>
            </a:lvl5pPr>
            <a:lvl6pPr>
              <a:buNone/>
              <a:defRPr sz="1425" b="0">
                <a:solidFill>
                  <a:srgbClr val="C9E5DE"/>
                </a:solidFill>
                <a:latin typeface="Arial Unicode MS"/>
                <a:ea typeface="Arial Unicode MS"/>
                <a:cs typeface="Arial Unicode MS"/>
              </a:defRPr>
            </a:lvl6pPr>
            <a:lvl7pPr>
              <a:buNone/>
              <a:defRPr sz="1425" b="0">
                <a:solidFill>
                  <a:srgbClr val="C9E5DE"/>
                </a:solidFill>
                <a:latin typeface="Arial Unicode MS"/>
                <a:ea typeface="Arial Unicode MS"/>
                <a:cs typeface="Arial Unicode MS"/>
              </a:defRPr>
            </a:lvl7pPr>
            <a:lvl8pPr>
              <a:buNone/>
              <a:defRPr sz="1425" b="0">
                <a:solidFill>
                  <a:srgbClr val="C9E5DE"/>
                </a:solidFill>
                <a:latin typeface="Arial Unicode MS"/>
                <a:ea typeface="Arial Unicode MS"/>
                <a:cs typeface="Arial Unicode MS"/>
              </a:defRPr>
            </a:lvl8pPr>
            <a:lvl9pPr>
              <a:buNone/>
              <a:defRPr sz="1425" b="0">
                <a:solidFill>
                  <a:srgbClr val="C9E5DE"/>
                </a:solidFill>
                <a:latin typeface="Arial Unicode MS"/>
                <a:ea typeface="Arial Unicode MS"/>
                <a:cs typeface="Arial Unicode MS"/>
              </a:defRPr>
            </a:lvl9pPr>
          </a:lstStyle>
          <a:p xmlns:a="http://schemas.openxmlformats.org/drawingml/2006/main">
            <a:pPr>
              <a:buNone/>
              <a:defRPr sz="1425" b="0">
                <a:solidFill>
                  <a:srgbClr val="C9E5DE"/>
                </a:solidFill>
                <a:latin typeface="Arial Unicode MS"/>
                <a:ea typeface="Arial Unicode MS"/>
                <a:cs typeface="Arial Unicode MS"/>
              </a:defRPr>
            </a:pPr>
            <a:r>
              <a:rPr sz="1425" b="0">
                <a:solidFill>
                  <a:srgbClr val="C9E5DE"/>
                </a:solidFill>
                <a:latin typeface="Arial Unicode MS"/>
                <a:ea typeface="Arial Unicode MS"/>
                <a:cs typeface="Arial Unicode MS"/>
              </a:rPr>
              <a:t>G077 문성도   /   선택 과제 2   /   AI 서비스 Mini Project</a:t>
            </a:r>
          </a:p>
        </p:txBody>
      </p:sp>
      <p:sp>
        <p:nvSpPr>
          <p:cNvPr id="5" name="presentation-plan">
            <a:extLst xmlns:a="http://schemas.openxmlformats.org/drawingml/2006/main">
              <a:ext uri="{FF2B5EF4-FFF2-40B4-BE49-F238E27FC236}">
                <a16:creationId xmlns:a16="http://schemas.microsoft.com/office/drawing/2014/main" id="{C060535B-B7E8-4F28-9DEB-1C9A8CA40707}"/>
              </a:ext>
            </a:extLst>
          </p:cNvPr>
          <p:cNvSpPr>
            <a:spLocks xmlns:a="http://schemas.openxmlformats.org/drawingml/2006/main" noGrp="1"/>
          </p:cNvSpPr>
          <p:nvPr/>
        </p:nvSpPr>
        <p:spPr>
          <a:xfrm xmlns:a="http://schemas.openxmlformats.org/drawingml/2006/main">
            <a:off x="723900" y="51720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B7CFC9"/>
                </a:solidFill>
                <a:latin typeface="Arial Unicode MS"/>
                <a:ea typeface="Arial Unicode MS"/>
                <a:cs typeface="Arial Unicode MS"/>
              </a:defRPr>
            </a:defPPr>
            <a:lvl1pPr>
              <a:defRPr sz="1725" b="0">
                <a:solidFill>
                  <a:srgbClr val="B7CFC9"/>
                </a:solidFill>
                <a:latin typeface="Arial Unicode MS"/>
                <a:ea typeface="Arial Unicode MS"/>
                <a:cs typeface="Arial Unicode MS"/>
              </a:defRPr>
            </a:lvl1pPr>
            <a:lvl2pPr>
              <a:defRPr sz="1725" b="0">
                <a:solidFill>
                  <a:srgbClr val="B7CFC9"/>
                </a:solidFill>
                <a:latin typeface="Arial Unicode MS"/>
                <a:ea typeface="Arial Unicode MS"/>
                <a:cs typeface="Arial Unicode MS"/>
              </a:defRPr>
            </a:lvl2pPr>
            <a:lvl3pPr>
              <a:defRPr sz="1725" b="0">
                <a:solidFill>
                  <a:srgbClr val="B7CFC9"/>
                </a:solidFill>
                <a:latin typeface="Arial Unicode MS"/>
                <a:ea typeface="Arial Unicode MS"/>
                <a:cs typeface="Arial Unicode MS"/>
              </a:defRPr>
            </a:lvl3pPr>
            <a:lvl4pPr>
              <a:defRPr sz="1725" b="0">
                <a:solidFill>
                  <a:srgbClr val="B7CFC9"/>
                </a:solidFill>
                <a:latin typeface="Arial Unicode MS"/>
                <a:ea typeface="Arial Unicode MS"/>
                <a:cs typeface="Arial Unicode MS"/>
              </a:defRPr>
            </a:lvl4pPr>
            <a:lvl5pPr>
              <a:defRPr sz="1725" b="0">
                <a:solidFill>
                  <a:srgbClr val="B7CFC9"/>
                </a:solidFill>
                <a:latin typeface="Arial Unicode MS"/>
                <a:ea typeface="Arial Unicode MS"/>
                <a:cs typeface="Arial Unicode MS"/>
              </a:defRPr>
            </a:lvl5pPr>
            <a:lvl6pPr>
              <a:defRPr sz="1725" b="0">
                <a:solidFill>
                  <a:srgbClr val="B7CFC9"/>
                </a:solidFill>
                <a:latin typeface="Arial Unicode MS"/>
                <a:ea typeface="Arial Unicode MS"/>
                <a:cs typeface="Arial Unicode MS"/>
              </a:defRPr>
            </a:lvl6pPr>
            <a:lvl7pPr>
              <a:defRPr sz="1725" b="0">
                <a:solidFill>
                  <a:srgbClr val="B7CFC9"/>
                </a:solidFill>
                <a:latin typeface="Arial Unicode MS"/>
                <a:ea typeface="Arial Unicode MS"/>
                <a:cs typeface="Arial Unicode MS"/>
              </a:defRPr>
            </a:lvl7pPr>
            <a:lvl8pPr>
              <a:defRPr sz="1725" b="0">
                <a:solidFill>
                  <a:srgbClr val="B7CFC9"/>
                </a:solidFill>
                <a:latin typeface="Arial Unicode MS"/>
                <a:ea typeface="Arial Unicode MS"/>
                <a:cs typeface="Arial Unicode MS"/>
              </a:defRPr>
            </a:lvl8pPr>
            <a:lvl9pPr>
              <a:defRPr sz="1725" b="0">
                <a:solidFill>
                  <a:srgbClr val="B7CFC9"/>
                </a:solidFill>
                <a:latin typeface="Arial Unicode MS"/>
                <a:ea typeface="Arial Unicode MS"/>
                <a:cs typeface="Arial Unicode MS"/>
              </a:defRPr>
            </a:lvl9pPr>
          </a:lstStyle>
          <a:p xmlns:a="http://schemas.openxmlformats.org/drawingml/2006/main">
            <a:pPr>
              <a:defRPr sz="1725" b="0">
                <a:solidFill>
                  <a:srgbClr val="B7CFC9"/>
                </a:solidFill>
                <a:latin typeface="Arial Unicode MS"/>
                <a:ea typeface="Arial Unicode MS"/>
                <a:cs typeface="Arial Unicode MS"/>
              </a:defRPr>
            </a:pPr>
            <a:r>
              <a:rPr sz="1725" b="0">
                <a:solidFill>
                  <a:srgbClr val="B7CFC9"/>
                </a:solidFill>
                <a:latin typeface="Arial Unicode MS"/>
                <a:ea typeface="Arial Unicode MS"/>
                <a:cs typeface="Arial Unicode MS"/>
              </a:rPr>
              <a:t>주제·결과 2분  +  실행 흐름·코드 3분</a:t>
            </a:r>
          </a:p>
        </p:txBody>
      </p:sp>
    </p:spTree>
    <p:extLst>
      <p:ext uri="{BB962C8B-B14F-4D97-AF65-F5344CB8AC3E}">
        <p14:creationId xmlns:p14="http://schemas.microsoft.com/office/powerpoint/2010/main" val="1149340861"/>
      </p:ext>
    </p:extLst>
  </p:cSld>
</p:sld>
</file>

<file path=ppt/slides/slide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D98DE662-870A-4026-8E31-664821A82033}"/>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문제와 사용 시점</a:t>
            </a:r>
          </a:p>
        </p:txBody>
      </p:sp>
      <p:sp>
        <p:nvSpPr>
          <p:cNvPr id="2" name="page">
            <a:extLst xmlns:a="http://schemas.openxmlformats.org/drawingml/2006/main">
              <a:ext uri="{FF2B5EF4-FFF2-40B4-BE49-F238E27FC236}">
                <a16:creationId xmlns:a16="http://schemas.microsoft.com/office/drawing/2014/main" id="{9374BA02-28D8-4350-B84B-E386A39199C0}"/>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02</a:t>
            </a:r>
          </a:p>
        </p:txBody>
      </p:sp>
      <p:sp>
        <p:nvSpPr>
          <p:cNvPr id="3" name="when">
            <a:extLst xmlns:a="http://schemas.openxmlformats.org/drawingml/2006/main">
              <a:ext uri="{FF2B5EF4-FFF2-40B4-BE49-F238E27FC236}">
                <a16:creationId xmlns:a16="http://schemas.microsoft.com/office/drawing/2014/main" id="{03EDD353-7DFE-41E8-8BDE-1AA17B4FD904}"/>
              </a:ext>
            </a:extLst>
          </p:cNvPr>
          <p:cNvSpPr>
            <a:spLocks xmlns:a="http://schemas.openxmlformats.org/drawingml/2006/main" noGrp="1"/>
          </p:cNvSpPr>
          <p:nvPr/>
        </p:nvSpPr>
        <p:spPr>
          <a:xfrm xmlns:a="http://schemas.openxmlformats.org/drawingml/2006/main">
            <a:off x="609600" y="1838325"/>
            <a:ext cx="4572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73C46"/>
                </a:solidFill>
                <a:latin typeface="Arial Unicode MS"/>
                <a:ea typeface="Arial Unicode MS"/>
                <a:cs typeface="Arial Unicode MS"/>
              </a:defRPr>
            </a:defPPr>
            <a:lvl1pPr>
              <a:buNone/>
              <a:defRPr sz="2850" b="1">
                <a:solidFill>
                  <a:srgbClr val="173C46"/>
                </a:solidFill>
                <a:latin typeface="Arial Unicode MS"/>
                <a:ea typeface="Arial Unicode MS"/>
                <a:cs typeface="Arial Unicode MS"/>
              </a:defRPr>
            </a:lvl1pPr>
            <a:lvl2pPr>
              <a:buNone/>
              <a:defRPr sz="2850" b="1">
                <a:solidFill>
                  <a:srgbClr val="173C46"/>
                </a:solidFill>
                <a:latin typeface="Arial Unicode MS"/>
                <a:ea typeface="Arial Unicode MS"/>
                <a:cs typeface="Arial Unicode MS"/>
              </a:defRPr>
            </a:lvl2pPr>
            <a:lvl3pPr>
              <a:buNone/>
              <a:defRPr sz="2850" b="1">
                <a:solidFill>
                  <a:srgbClr val="173C46"/>
                </a:solidFill>
                <a:latin typeface="Arial Unicode MS"/>
                <a:ea typeface="Arial Unicode MS"/>
                <a:cs typeface="Arial Unicode MS"/>
              </a:defRPr>
            </a:lvl3pPr>
            <a:lvl4pPr>
              <a:buNone/>
              <a:defRPr sz="2850" b="1">
                <a:solidFill>
                  <a:srgbClr val="173C46"/>
                </a:solidFill>
                <a:latin typeface="Arial Unicode MS"/>
                <a:ea typeface="Arial Unicode MS"/>
                <a:cs typeface="Arial Unicode MS"/>
              </a:defRPr>
            </a:lvl4pPr>
            <a:lvl5pPr>
              <a:buNone/>
              <a:defRPr sz="2850" b="1">
                <a:solidFill>
                  <a:srgbClr val="173C46"/>
                </a:solidFill>
                <a:latin typeface="Arial Unicode MS"/>
                <a:ea typeface="Arial Unicode MS"/>
                <a:cs typeface="Arial Unicode MS"/>
              </a:defRPr>
            </a:lvl5pPr>
            <a:lvl6pPr>
              <a:buNone/>
              <a:defRPr sz="2850" b="1">
                <a:solidFill>
                  <a:srgbClr val="173C46"/>
                </a:solidFill>
                <a:latin typeface="Arial Unicode MS"/>
                <a:ea typeface="Arial Unicode MS"/>
                <a:cs typeface="Arial Unicode MS"/>
              </a:defRPr>
            </a:lvl6pPr>
            <a:lvl7pPr>
              <a:buNone/>
              <a:defRPr sz="2850" b="1">
                <a:solidFill>
                  <a:srgbClr val="173C46"/>
                </a:solidFill>
                <a:latin typeface="Arial Unicode MS"/>
                <a:ea typeface="Arial Unicode MS"/>
                <a:cs typeface="Arial Unicode MS"/>
              </a:defRPr>
            </a:lvl7pPr>
            <a:lvl8pPr>
              <a:buNone/>
              <a:defRPr sz="2850" b="1">
                <a:solidFill>
                  <a:srgbClr val="173C46"/>
                </a:solidFill>
                <a:latin typeface="Arial Unicode MS"/>
                <a:ea typeface="Arial Unicode MS"/>
                <a:cs typeface="Arial Unicode MS"/>
              </a:defRPr>
            </a:lvl8pPr>
            <a:lvl9pPr>
              <a:buNone/>
              <a:defRPr sz="2850" b="1">
                <a:solidFill>
                  <a:srgbClr val="173C46"/>
                </a:solidFill>
                <a:latin typeface="Arial Unicode MS"/>
                <a:ea typeface="Arial Unicode MS"/>
                <a:cs typeface="Arial Unicode MS"/>
              </a:defRPr>
            </a:lvl9pPr>
          </a:lstStyle>
          <a:p xmlns:a="http://schemas.openxmlformats.org/drawingml/2006/main">
            <a:pPr>
              <a:buNone/>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수주 확정 후</a:t>
            </a:r>
          </a:p>
          <a:p xmlns:a="http://schemas.openxmlformats.org/drawingml/2006/main">
            <a:pPr>
              <a:buNone/>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기술 인계회의 전</a:t>
            </a:r>
          </a:p>
        </p:txBody>
      </p:sp>
      <p:sp>
        <p:nvSpPr>
          <p:cNvPr id="4" name="why">
            <a:extLst xmlns:a="http://schemas.openxmlformats.org/drawingml/2006/main">
              <a:ext uri="{FF2B5EF4-FFF2-40B4-BE49-F238E27FC236}">
                <a16:creationId xmlns:a16="http://schemas.microsoft.com/office/drawing/2014/main" id="{C3B50A92-09E6-41C4-A349-E8FB97AB8F72}"/>
              </a:ext>
            </a:extLst>
          </p:cNvPr>
          <p:cNvSpPr>
            <a:spLocks xmlns:a="http://schemas.openxmlformats.org/drawingml/2006/main" noGrp="1"/>
          </p:cNvSpPr>
          <p:nvPr/>
        </p:nvSpPr>
        <p:spPr>
          <a:xfrm xmlns:a="http://schemas.openxmlformats.org/drawingml/2006/main">
            <a:off x="609600" y="3552825"/>
            <a:ext cx="4667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73C46"/>
                </a:solidFill>
                <a:latin typeface="Arial Unicode MS"/>
                <a:ea typeface="Arial Unicode MS"/>
                <a:cs typeface="Arial Unicode MS"/>
              </a:defRPr>
            </a:defPPr>
            <a:lvl1pPr>
              <a:buNone/>
              <a:defRPr sz="2025" b="0">
                <a:solidFill>
                  <a:srgbClr val="173C46"/>
                </a:solidFill>
                <a:latin typeface="Arial Unicode MS"/>
                <a:ea typeface="Arial Unicode MS"/>
                <a:cs typeface="Arial Unicode MS"/>
              </a:defRPr>
            </a:lvl1pPr>
            <a:lvl2pPr>
              <a:buNone/>
              <a:defRPr sz="2025" b="0">
                <a:solidFill>
                  <a:srgbClr val="173C46"/>
                </a:solidFill>
                <a:latin typeface="Arial Unicode MS"/>
                <a:ea typeface="Arial Unicode MS"/>
                <a:cs typeface="Arial Unicode MS"/>
              </a:defRPr>
            </a:lvl2pPr>
            <a:lvl3pPr>
              <a:buNone/>
              <a:defRPr sz="2025" b="0">
                <a:solidFill>
                  <a:srgbClr val="173C46"/>
                </a:solidFill>
                <a:latin typeface="Arial Unicode MS"/>
                <a:ea typeface="Arial Unicode MS"/>
                <a:cs typeface="Arial Unicode MS"/>
              </a:defRPr>
            </a:lvl3pPr>
            <a:lvl4pPr>
              <a:buNone/>
              <a:defRPr sz="2025" b="0">
                <a:solidFill>
                  <a:srgbClr val="173C46"/>
                </a:solidFill>
                <a:latin typeface="Arial Unicode MS"/>
                <a:ea typeface="Arial Unicode MS"/>
                <a:cs typeface="Arial Unicode MS"/>
              </a:defRPr>
            </a:lvl4pPr>
            <a:lvl5pPr>
              <a:buNone/>
              <a:defRPr sz="2025" b="0">
                <a:solidFill>
                  <a:srgbClr val="173C46"/>
                </a:solidFill>
                <a:latin typeface="Arial Unicode MS"/>
                <a:ea typeface="Arial Unicode MS"/>
                <a:cs typeface="Arial Unicode MS"/>
              </a:defRPr>
            </a:lvl5pPr>
            <a:lvl6pPr>
              <a:buNone/>
              <a:defRPr sz="2025" b="0">
                <a:solidFill>
                  <a:srgbClr val="173C46"/>
                </a:solidFill>
                <a:latin typeface="Arial Unicode MS"/>
                <a:ea typeface="Arial Unicode MS"/>
                <a:cs typeface="Arial Unicode MS"/>
              </a:defRPr>
            </a:lvl6pPr>
            <a:lvl7pPr>
              <a:buNone/>
              <a:defRPr sz="2025" b="0">
                <a:solidFill>
                  <a:srgbClr val="173C46"/>
                </a:solidFill>
                <a:latin typeface="Arial Unicode MS"/>
                <a:ea typeface="Arial Unicode MS"/>
                <a:cs typeface="Arial Unicode MS"/>
              </a:defRPr>
            </a:lvl7pPr>
            <a:lvl8pPr>
              <a:buNone/>
              <a:defRPr sz="2025" b="0">
                <a:solidFill>
                  <a:srgbClr val="173C46"/>
                </a:solidFill>
                <a:latin typeface="Arial Unicode MS"/>
                <a:ea typeface="Arial Unicode MS"/>
                <a:cs typeface="Arial Unicode MS"/>
              </a:defRPr>
            </a:lvl8pPr>
            <a:lvl9pPr>
              <a:buNone/>
              <a:defRPr sz="2025" b="0">
                <a:solidFill>
                  <a:srgbClr val="173C46"/>
                </a:solidFill>
                <a:latin typeface="Arial Unicode MS"/>
                <a:ea typeface="Arial Unicode MS"/>
                <a:cs typeface="Arial Unicode MS"/>
              </a:defRPr>
            </a:lvl9pPr>
          </a:lstStyle>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상세 설계와 구매로 넘기기 전에</a:t>
            </a:r>
          </a:p>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최신 요구사항의 반영 여부를 확인합니다.</a:t>
            </a:r>
          </a:p>
        </p:txBody>
      </p:sp>
      <p:sp>
        <p:nvSpPr>
          <p:cNvPr id="5" name="req-label">
            <a:extLst xmlns:a="http://schemas.openxmlformats.org/drawingml/2006/main">
              <a:ext uri="{FF2B5EF4-FFF2-40B4-BE49-F238E27FC236}">
                <a16:creationId xmlns:a16="http://schemas.microsoft.com/office/drawing/2014/main" id="{A421EB30-D07F-41B4-81B6-CEA15FB3680E}"/>
              </a:ext>
            </a:extLst>
          </p:cNvPr>
          <p:cNvSpPr>
            <a:spLocks xmlns:a="http://schemas.openxmlformats.org/drawingml/2006/main" noGrp="1"/>
          </p:cNvSpPr>
          <p:nvPr/>
        </p:nvSpPr>
        <p:spPr>
          <a:xfrm xmlns:a="http://schemas.openxmlformats.org/drawingml/2006/main">
            <a:off x="6486525" y="18764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buNone/>
              <a:defRPr sz="1950" b="0">
                <a:solidFill>
                  <a:srgbClr val="53676D"/>
                </a:solidFill>
                <a:latin typeface="Arial Unicode MS"/>
                <a:ea typeface="Arial Unicode MS"/>
                <a:cs typeface="Arial Unicode MS"/>
              </a:defRPr>
            </a:lvl1pPr>
            <a:lvl2pPr>
              <a:buNone/>
              <a:defRPr sz="1950" b="0">
                <a:solidFill>
                  <a:srgbClr val="53676D"/>
                </a:solidFill>
                <a:latin typeface="Arial Unicode MS"/>
                <a:ea typeface="Arial Unicode MS"/>
                <a:cs typeface="Arial Unicode MS"/>
              </a:defRPr>
            </a:lvl2pPr>
            <a:lvl3pPr>
              <a:buNone/>
              <a:defRPr sz="1950" b="0">
                <a:solidFill>
                  <a:srgbClr val="53676D"/>
                </a:solidFill>
                <a:latin typeface="Arial Unicode MS"/>
                <a:ea typeface="Arial Unicode MS"/>
                <a:cs typeface="Arial Unicode MS"/>
              </a:defRPr>
            </a:lvl3pPr>
            <a:lvl4pPr>
              <a:buNone/>
              <a:defRPr sz="1950" b="0">
                <a:solidFill>
                  <a:srgbClr val="53676D"/>
                </a:solidFill>
                <a:latin typeface="Arial Unicode MS"/>
                <a:ea typeface="Arial Unicode MS"/>
                <a:cs typeface="Arial Unicode MS"/>
              </a:defRPr>
            </a:lvl4pPr>
            <a:lvl5pPr>
              <a:buNone/>
              <a:defRPr sz="1950" b="0">
                <a:solidFill>
                  <a:srgbClr val="53676D"/>
                </a:solidFill>
                <a:latin typeface="Arial Unicode MS"/>
                <a:ea typeface="Arial Unicode MS"/>
                <a:cs typeface="Arial Unicode MS"/>
              </a:defRPr>
            </a:lvl5pPr>
            <a:lvl6pPr>
              <a:buNone/>
              <a:defRPr sz="1950" b="0">
                <a:solidFill>
                  <a:srgbClr val="53676D"/>
                </a:solidFill>
                <a:latin typeface="Arial Unicode MS"/>
                <a:ea typeface="Arial Unicode MS"/>
                <a:cs typeface="Arial Unicode MS"/>
              </a:defRPr>
            </a:lvl6pPr>
            <a:lvl7pPr>
              <a:buNone/>
              <a:defRPr sz="1950" b="0">
                <a:solidFill>
                  <a:srgbClr val="53676D"/>
                </a:solidFill>
                <a:latin typeface="Arial Unicode MS"/>
                <a:ea typeface="Arial Unicode MS"/>
                <a:cs typeface="Arial Unicode MS"/>
              </a:defRPr>
            </a:lvl7pPr>
            <a:lvl8pPr>
              <a:buNone/>
              <a:defRPr sz="1950" b="0">
                <a:solidFill>
                  <a:srgbClr val="53676D"/>
                </a:solidFill>
                <a:latin typeface="Arial Unicode MS"/>
                <a:ea typeface="Arial Unicode MS"/>
                <a:cs typeface="Arial Unicode MS"/>
              </a:defRPr>
            </a:lvl8pPr>
            <a:lvl9pPr>
              <a:buNone/>
              <a:defRPr sz="1950" b="0">
                <a:solidFill>
                  <a:srgbClr val="53676D"/>
                </a:solidFill>
                <a:latin typeface="Arial Unicode MS"/>
                <a:ea typeface="Arial Unicode MS"/>
                <a:cs typeface="Arial Unicode MS"/>
              </a:defRPr>
            </a:lvl9pPr>
          </a:lstStyle>
          <a:p xmlns:a="http://schemas.openxmlformats.org/drawingml/2006/main">
            <a:pPr>
              <a:buNone/>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변경 합의서의 요구</a:t>
            </a:r>
          </a:p>
        </p:txBody>
      </p:sp>
      <p:sp>
        <p:nvSpPr>
          <p:cNvPr id="6" name="req">
            <a:extLst xmlns:a="http://schemas.openxmlformats.org/drawingml/2006/main">
              <a:ext uri="{FF2B5EF4-FFF2-40B4-BE49-F238E27FC236}">
                <a16:creationId xmlns:a16="http://schemas.microsoft.com/office/drawing/2014/main" id="{372FEBDA-22CF-411F-B408-97FEE2FB7513}"/>
              </a:ext>
            </a:extLst>
          </p:cNvPr>
          <p:cNvSpPr>
            <a:spLocks xmlns:a="http://schemas.openxmlformats.org/drawingml/2006/main" noGrp="1"/>
          </p:cNvSpPr>
          <p:nvPr/>
        </p:nvSpPr>
        <p:spPr>
          <a:xfrm xmlns:a="http://schemas.openxmlformats.org/drawingml/2006/main">
            <a:off x="6486525" y="2409825"/>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15796D"/>
                </a:solidFill>
                <a:latin typeface="Arial Unicode MS"/>
                <a:ea typeface="Arial Unicode MS"/>
                <a:cs typeface="Arial Unicode MS"/>
              </a:defRPr>
            </a:defPPr>
            <a:lvl1pPr>
              <a:buNone/>
              <a:defRPr sz="5100" b="1">
                <a:solidFill>
                  <a:srgbClr val="15796D"/>
                </a:solidFill>
                <a:latin typeface="Arial Unicode MS"/>
                <a:ea typeface="Arial Unicode MS"/>
                <a:cs typeface="Arial Unicode MS"/>
              </a:defRPr>
            </a:lvl1pPr>
            <a:lvl2pPr>
              <a:buNone/>
              <a:defRPr sz="5100" b="1">
                <a:solidFill>
                  <a:srgbClr val="15796D"/>
                </a:solidFill>
                <a:latin typeface="Arial Unicode MS"/>
                <a:ea typeface="Arial Unicode MS"/>
                <a:cs typeface="Arial Unicode MS"/>
              </a:defRPr>
            </a:lvl2pPr>
            <a:lvl3pPr>
              <a:buNone/>
              <a:defRPr sz="5100" b="1">
                <a:solidFill>
                  <a:srgbClr val="15796D"/>
                </a:solidFill>
                <a:latin typeface="Arial Unicode MS"/>
                <a:ea typeface="Arial Unicode MS"/>
                <a:cs typeface="Arial Unicode MS"/>
              </a:defRPr>
            </a:lvl3pPr>
            <a:lvl4pPr>
              <a:buNone/>
              <a:defRPr sz="5100" b="1">
                <a:solidFill>
                  <a:srgbClr val="15796D"/>
                </a:solidFill>
                <a:latin typeface="Arial Unicode MS"/>
                <a:ea typeface="Arial Unicode MS"/>
                <a:cs typeface="Arial Unicode MS"/>
              </a:defRPr>
            </a:lvl4pPr>
            <a:lvl5pPr>
              <a:buNone/>
              <a:defRPr sz="5100" b="1">
                <a:solidFill>
                  <a:srgbClr val="15796D"/>
                </a:solidFill>
                <a:latin typeface="Arial Unicode MS"/>
                <a:ea typeface="Arial Unicode MS"/>
                <a:cs typeface="Arial Unicode MS"/>
              </a:defRPr>
            </a:lvl5pPr>
            <a:lvl6pPr>
              <a:buNone/>
              <a:defRPr sz="5100" b="1">
                <a:solidFill>
                  <a:srgbClr val="15796D"/>
                </a:solidFill>
                <a:latin typeface="Arial Unicode MS"/>
                <a:ea typeface="Arial Unicode MS"/>
                <a:cs typeface="Arial Unicode MS"/>
              </a:defRPr>
            </a:lvl6pPr>
            <a:lvl7pPr>
              <a:buNone/>
              <a:defRPr sz="5100" b="1">
                <a:solidFill>
                  <a:srgbClr val="15796D"/>
                </a:solidFill>
                <a:latin typeface="Arial Unicode MS"/>
                <a:ea typeface="Arial Unicode MS"/>
                <a:cs typeface="Arial Unicode MS"/>
              </a:defRPr>
            </a:lvl7pPr>
            <a:lvl8pPr>
              <a:buNone/>
              <a:defRPr sz="5100" b="1">
                <a:solidFill>
                  <a:srgbClr val="15796D"/>
                </a:solidFill>
                <a:latin typeface="Arial Unicode MS"/>
                <a:ea typeface="Arial Unicode MS"/>
                <a:cs typeface="Arial Unicode MS"/>
              </a:defRPr>
            </a:lvl8pPr>
            <a:lvl9pPr>
              <a:buNone/>
              <a:defRPr sz="5100" b="1">
                <a:solidFill>
                  <a:srgbClr val="15796D"/>
                </a:solidFill>
                <a:latin typeface="Arial Unicode MS"/>
                <a:ea typeface="Arial Unicode MS"/>
                <a:cs typeface="Arial Unicode MS"/>
              </a:defRPr>
            </a:lvl9pPr>
          </a:lstStyle>
          <a:p xmlns:a="http://schemas.openxmlformats.org/drawingml/2006/main">
            <a:pPr>
              <a:buNone/>
              <a:defRPr sz="5100" b="1">
                <a:solidFill>
                  <a:srgbClr val="15796D"/>
                </a:solidFill>
                <a:latin typeface="Arial Unicode MS"/>
                <a:ea typeface="Arial Unicode MS"/>
                <a:cs typeface="Arial Unicode MS"/>
              </a:defRPr>
            </a:pPr>
            <a:r>
              <a:rPr sz="5100" b="1">
                <a:solidFill>
                  <a:srgbClr val="15796D"/>
                </a:solidFill>
                <a:latin typeface="Arial Unicode MS"/>
                <a:ea typeface="Arial Unicode MS"/>
                <a:cs typeface="Arial Unicode MS"/>
              </a:rPr>
              <a:t>440 V</a:t>
            </a:r>
          </a:p>
        </p:txBody>
      </p:sp>
      <p:sp>
        <p:nvSpPr>
          <p:cNvPr id="7" name="actual-label">
            <a:extLst xmlns:a="http://schemas.openxmlformats.org/drawingml/2006/main">
              <a:ext uri="{FF2B5EF4-FFF2-40B4-BE49-F238E27FC236}">
                <a16:creationId xmlns:a16="http://schemas.microsoft.com/office/drawing/2014/main" id="{00D7BD91-A8DA-435F-99CF-8EC8D6697276}"/>
              </a:ext>
            </a:extLst>
          </p:cNvPr>
          <p:cNvSpPr>
            <a:spLocks xmlns:a="http://schemas.openxmlformats.org/drawingml/2006/main" noGrp="1"/>
          </p:cNvSpPr>
          <p:nvPr/>
        </p:nvSpPr>
        <p:spPr>
          <a:xfrm xmlns:a="http://schemas.openxmlformats.org/drawingml/2006/main">
            <a:off x="6486525" y="369570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buNone/>
              <a:defRPr sz="1950" b="0">
                <a:solidFill>
                  <a:srgbClr val="53676D"/>
                </a:solidFill>
                <a:latin typeface="Arial Unicode MS"/>
                <a:ea typeface="Arial Unicode MS"/>
                <a:cs typeface="Arial Unicode MS"/>
              </a:defRPr>
            </a:lvl1pPr>
            <a:lvl2pPr>
              <a:buNone/>
              <a:defRPr sz="1950" b="0">
                <a:solidFill>
                  <a:srgbClr val="53676D"/>
                </a:solidFill>
                <a:latin typeface="Arial Unicode MS"/>
                <a:ea typeface="Arial Unicode MS"/>
                <a:cs typeface="Arial Unicode MS"/>
              </a:defRPr>
            </a:lvl2pPr>
            <a:lvl3pPr>
              <a:buNone/>
              <a:defRPr sz="1950" b="0">
                <a:solidFill>
                  <a:srgbClr val="53676D"/>
                </a:solidFill>
                <a:latin typeface="Arial Unicode MS"/>
                <a:ea typeface="Arial Unicode MS"/>
                <a:cs typeface="Arial Unicode MS"/>
              </a:defRPr>
            </a:lvl3pPr>
            <a:lvl4pPr>
              <a:buNone/>
              <a:defRPr sz="1950" b="0">
                <a:solidFill>
                  <a:srgbClr val="53676D"/>
                </a:solidFill>
                <a:latin typeface="Arial Unicode MS"/>
                <a:ea typeface="Arial Unicode MS"/>
                <a:cs typeface="Arial Unicode MS"/>
              </a:defRPr>
            </a:lvl4pPr>
            <a:lvl5pPr>
              <a:buNone/>
              <a:defRPr sz="1950" b="0">
                <a:solidFill>
                  <a:srgbClr val="53676D"/>
                </a:solidFill>
                <a:latin typeface="Arial Unicode MS"/>
                <a:ea typeface="Arial Unicode MS"/>
                <a:cs typeface="Arial Unicode MS"/>
              </a:defRPr>
            </a:lvl5pPr>
            <a:lvl6pPr>
              <a:buNone/>
              <a:defRPr sz="1950" b="0">
                <a:solidFill>
                  <a:srgbClr val="53676D"/>
                </a:solidFill>
                <a:latin typeface="Arial Unicode MS"/>
                <a:ea typeface="Arial Unicode MS"/>
                <a:cs typeface="Arial Unicode MS"/>
              </a:defRPr>
            </a:lvl6pPr>
            <a:lvl7pPr>
              <a:buNone/>
              <a:defRPr sz="1950" b="0">
                <a:solidFill>
                  <a:srgbClr val="53676D"/>
                </a:solidFill>
                <a:latin typeface="Arial Unicode MS"/>
                <a:ea typeface="Arial Unicode MS"/>
                <a:cs typeface="Arial Unicode MS"/>
              </a:defRPr>
            </a:lvl7pPr>
            <a:lvl8pPr>
              <a:buNone/>
              <a:defRPr sz="1950" b="0">
                <a:solidFill>
                  <a:srgbClr val="53676D"/>
                </a:solidFill>
                <a:latin typeface="Arial Unicode MS"/>
                <a:ea typeface="Arial Unicode MS"/>
                <a:cs typeface="Arial Unicode MS"/>
              </a:defRPr>
            </a:lvl8pPr>
            <a:lvl9pPr>
              <a:buNone/>
              <a:defRPr sz="1950" b="0">
                <a:solidFill>
                  <a:srgbClr val="53676D"/>
                </a:solidFill>
                <a:latin typeface="Arial Unicode MS"/>
                <a:ea typeface="Arial Unicode MS"/>
                <a:cs typeface="Arial Unicode MS"/>
              </a:defRPr>
            </a:lvl9pPr>
          </a:lstStyle>
          <a:p xmlns:a="http://schemas.openxmlformats.org/drawingml/2006/main">
            <a:pPr>
              <a:buNone/>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내부 인계표에 남은 값</a:t>
            </a:r>
          </a:p>
        </p:txBody>
      </p:sp>
      <p:sp>
        <p:nvSpPr>
          <p:cNvPr id="8" name="actual">
            <a:extLst xmlns:a="http://schemas.openxmlformats.org/drawingml/2006/main">
              <a:ext uri="{FF2B5EF4-FFF2-40B4-BE49-F238E27FC236}">
                <a16:creationId xmlns:a16="http://schemas.microsoft.com/office/drawing/2014/main" id="{2DBCACD7-3AF0-47E1-8103-FE384789E4D9}"/>
              </a:ext>
            </a:extLst>
          </p:cNvPr>
          <p:cNvSpPr>
            <a:spLocks xmlns:a="http://schemas.openxmlformats.org/drawingml/2006/main" noGrp="1"/>
          </p:cNvSpPr>
          <p:nvPr/>
        </p:nvSpPr>
        <p:spPr>
          <a:xfrm xmlns:a="http://schemas.openxmlformats.org/drawingml/2006/main">
            <a:off x="6486525" y="422910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A54E35"/>
                </a:solidFill>
                <a:latin typeface="Arial Unicode MS"/>
                <a:ea typeface="Arial Unicode MS"/>
                <a:cs typeface="Arial Unicode MS"/>
              </a:defRPr>
            </a:defPPr>
            <a:lvl1pPr>
              <a:buNone/>
              <a:defRPr sz="5100" b="1">
                <a:solidFill>
                  <a:srgbClr val="A54E35"/>
                </a:solidFill>
                <a:latin typeface="Arial Unicode MS"/>
                <a:ea typeface="Arial Unicode MS"/>
                <a:cs typeface="Arial Unicode MS"/>
              </a:defRPr>
            </a:lvl1pPr>
            <a:lvl2pPr>
              <a:buNone/>
              <a:defRPr sz="5100" b="1">
                <a:solidFill>
                  <a:srgbClr val="A54E35"/>
                </a:solidFill>
                <a:latin typeface="Arial Unicode MS"/>
                <a:ea typeface="Arial Unicode MS"/>
                <a:cs typeface="Arial Unicode MS"/>
              </a:defRPr>
            </a:lvl2pPr>
            <a:lvl3pPr>
              <a:buNone/>
              <a:defRPr sz="5100" b="1">
                <a:solidFill>
                  <a:srgbClr val="A54E35"/>
                </a:solidFill>
                <a:latin typeface="Arial Unicode MS"/>
                <a:ea typeface="Arial Unicode MS"/>
                <a:cs typeface="Arial Unicode MS"/>
              </a:defRPr>
            </a:lvl3pPr>
            <a:lvl4pPr>
              <a:buNone/>
              <a:defRPr sz="5100" b="1">
                <a:solidFill>
                  <a:srgbClr val="A54E35"/>
                </a:solidFill>
                <a:latin typeface="Arial Unicode MS"/>
                <a:ea typeface="Arial Unicode MS"/>
                <a:cs typeface="Arial Unicode MS"/>
              </a:defRPr>
            </a:lvl4pPr>
            <a:lvl5pPr>
              <a:buNone/>
              <a:defRPr sz="5100" b="1">
                <a:solidFill>
                  <a:srgbClr val="A54E35"/>
                </a:solidFill>
                <a:latin typeface="Arial Unicode MS"/>
                <a:ea typeface="Arial Unicode MS"/>
                <a:cs typeface="Arial Unicode MS"/>
              </a:defRPr>
            </a:lvl5pPr>
            <a:lvl6pPr>
              <a:buNone/>
              <a:defRPr sz="5100" b="1">
                <a:solidFill>
                  <a:srgbClr val="A54E35"/>
                </a:solidFill>
                <a:latin typeface="Arial Unicode MS"/>
                <a:ea typeface="Arial Unicode MS"/>
                <a:cs typeface="Arial Unicode MS"/>
              </a:defRPr>
            </a:lvl6pPr>
            <a:lvl7pPr>
              <a:buNone/>
              <a:defRPr sz="5100" b="1">
                <a:solidFill>
                  <a:srgbClr val="A54E35"/>
                </a:solidFill>
                <a:latin typeface="Arial Unicode MS"/>
                <a:ea typeface="Arial Unicode MS"/>
                <a:cs typeface="Arial Unicode MS"/>
              </a:defRPr>
            </a:lvl7pPr>
            <a:lvl8pPr>
              <a:buNone/>
              <a:defRPr sz="5100" b="1">
                <a:solidFill>
                  <a:srgbClr val="A54E35"/>
                </a:solidFill>
                <a:latin typeface="Arial Unicode MS"/>
                <a:ea typeface="Arial Unicode MS"/>
                <a:cs typeface="Arial Unicode MS"/>
              </a:defRPr>
            </a:lvl8pPr>
            <a:lvl9pPr>
              <a:buNone/>
              <a:defRPr sz="5100" b="1">
                <a:solidFill>
                  <a:srgbClr val="A54E35"/>
                </a:solidFill>
                <a:latin typeface="Arial Unicode MS"/>
                <a:ea typeface="Arial Unicode MS"/>
                <a:cs typeface="Arial Unicode MS"/>
              </a:defRPr>
            </a:lvl9pPr>
          </a:lstStyle>
          <a:p xmlns:a="http://schemas.openxmlformats.org/drawingml/2006/main">
            <a:pPr>
              <a:buNone/>
              <a:defRPr sz="5100" b="1">
                <a:solidFill>
                  <a:srgbClr val="A54E35"/>
                </a:solidFill>
                <a:latin typeface="Arial Unicode MS"/>
                <a:ea typeface="Arial Unicode MS"/>
                <a:cs typeface="Arial Unicode MS"/>
              </a:defRPr>
            </a:pPr>
            <a:r>
              <a:rPr sz="5100" b="1">
                <a:solidFill>
                  <a:srgbClr val="A54E35"/>
                </a:solidFill>
                <a:latin typeface="Arial Unicode MS"/>
                <a:ea typeface="Arial Unicode MS"/>
                <a:cs typeface="Arial Unicode MS"/>
              </a:rPr>
              <a:t>380 V</a:t>
            </a:r>
          </a:p>
        </p:txBody>
      </p:sp>
      <p:sp>
        <p:nvSpPr>
          <p:cNvPr id="9" name="caveat">
            <a:extLst xmlns:a="http://schemas.openxmlformats.org/drawingml/2006/main">
              <a:ext uri="{FF2B5EF4-FFF2-40B4-BE49-F238E27FC236}">
                <a16:creationId xmlns:a16="http://schemas.microsoft.com/office/drawing/2014/main" id="{8678C2EA-B9FA-42B5-9628-F120974CDFFC}"/>
              </a:ext>
            </a:extLst>
          </p:cNvPr>
          <p:cNvSpPr>
            <a:spLocks xmlns:a="http://schemas.openxmlformats.org/drawingml/2006/main" noGrp="1"/>
          </p:cNvSpPr>
          <p:nvPr/>
        </p:nvSpPr>
        <p:spPr>
          <a:xfrm xmlns:a="http://schemas.openxmlformats.org/drawingml/2006/main">
            <a:off x="609600" y="5905500"/>
            <a:ext cx="1009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팬 보조전원 변경 미반영을 구성한 가상 사례입니다.</a:t>
            </a:r>
          </a:p>
        </p:txBody>
      </p:sp>
    </p:spTree>
    <p:extLst>
      <p:ext uri="{BB962C8B-B14F-4D97-AF65-F5344CB8AC3E}">
        <p14:creationId xmlns:p14="http://schemas.microsoft.com/office/powerpoint/2010/main" val="1610026476"/>
      </p:ext>
    </p:extLst>
  </p:cSld>
</p:sld>
</file>

<file path=ppt/slides/slide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3FD61E6B-66F5-4C6E-982E-3CC449D6E67C}"/>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입력 문서와 주요 task</a:t>
            </a:r>
          </a:p>
        </p:txBody>
      </p:sp>
      <p:sp>
        <p:nvSpPr>
          <p:cNvPr id="2" name="page">
            <a:extLst xmlns:a="http://schemas.openxmlformats.org/drawingml/2006/main">
              <a:ext uri="{FF2B5EF4-FFF2-40B4-BE49-F238E27FC236}">
                <a16:creationId xmlns:a16="http://schemas.microsoft.com/office/drawing/2014/main" id="{89FB1351-F86F-45E1-BFB5-58589BE40DF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03</a:t>
            </a:r>
          </a:p>
        </p:txBody>
      </p:sp>
      <p:sp>
        <p:nvSpPr>
          <p:cNvPr id="3" name="docs">
            <a:extLst xmlns:a="http://schemas.openxmlformats.org/drawingml/2006/main">
              <a:ext uri="{FF2B5EF4-FFF2-40B4-BE49-F238E27FC236}">
                <a16:creationId xmlns:a16="http://schemas.microsoft.com/office/drawing/2014/main" id="{7796C154-705C-46DF-95E7-CBCE20F98094}"/>
              </a:ext>
            </a:extLst>
          </p:cNvPr>
          <p:cNvSpPr>
            <a:spLocks xmlns:a="http://schemas.openxmlformats.org/drawingml/2006/main" noGrp="1"/>
          </p:cNvSpPr>
          <p:nvPr/>
        </p:nvSpPr>
        <p:spPr>
          <a:xfrm xmlns:a="http://schemas.openxmlformats.org/drawingml/2006/main">
            <a:off x="609600" y="16383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buNone/>
              <a:defRPr sz="2325" b="1">
                <a:solidFill>
                  <a:srgbClr val="15796D"/>
                </a:solidFill>
                <a:latin typeface="Arial Unicode MS"/>
                <a:ea typeface="Arial Unicode MS"/>
                <a:cs typeface="Arial Unicode MS"/>
              </a:defRPr>
            </a:lvl1pPr>
            <a:lvl2pPr>
              <a:buNone/>
              <a:defRPr sz="2325" b="1">
                <a:solidFill>
                  <a:srgbClr val="15796D"/>
                </a:solidFill>
                <a:latin typeface="Arial Unicode MS"/>
                <a:ea typeface="Arial Unicode MS"/>
                <a:cs typeface="Arial Unicode MS"/>
              </a:defRPr>
            </a:lvl2pPr>
            <a:lvl3pPr>
              <a:buNone/>
              <a:defRPr sz="2325" b="1">
                <a:solidFill>
                  <a:srgbClr val="15796D"/>
                </a:solidFill>
                <a:latin typeface="Arial Unicode MS"/>
                <a:ea typeface="Arial Unicode MS"/>
                <a:cs typeface="Arial Unicode MS"/>
              </a:defRPr>
            </a:lvl3pPr>
            <a:lvl4pPr>
              <a:buNone/>
              <a:defRPr sz="2325" b="1">
                <a:solidFill>
                  <a:srgbClr val="15796D"/>
                </a:solidFill>
                <a:latin typeface="Arial Unicode MS"/>
                <a:ea typeface="Arial Unicode MS"/>
                <a:cs typeface="Arial Unicode MS"/>
              </a:defRPr>
            </a:lvl4pPr>
            <a:lvl5pPr>
              <a:buNone/>
              <a:defRPr sz="2325" b="1">
                <a:solidFill>
                  <a:srgbClr val="15796D"/>
                </a:solidFill>
                <a:latin typeface="Arial Unicode MS"/>
                <a:ea typeface="Arial Unicode MS"/>
                <a:cs typeface="Arial Unicode MS"/>
              </a:defRPr>
            </a:lvl5pPr>
            <a:lvl6pPr>
              <a:buNone/>
              <a:defRPr sz="2325" b="1">
                <a:solidFill>
                  <a:srgbClr val="15796D"/>
                </a:solidFill>
                <a:latin typeface="Arial Unicode MS"/>
                <a:ea typeface="Arial Unicode MS"/>
                <a:cs typeface="Arial Unicode MS"/>
              </a:defRPr>
            </a:lvl6pPr>
            <a:lvl7pPr>
              <a:buNone/>
              <a:defRPr sz="2325" b="1">
                <a:solidFill>
                  <a:srgbClr val="15796D"/>
                </a:solidFill>
                <a:latin typeface="Arial Unicode MS"/>
                <a:ea typeface="Arial Unicode MS"/>
                <a:cs typeface="Arial Unicode MS"/>
              </a:defRPr>
            </a:lvl7pPr>
            <a:lvl8pPr>
              <a:buNone/>
              <a:defRPr sz="2325" b="1">
                <a:solidFill>
                  <a:srgbClr val="15796D"/>
                </a:solidFill>
                <a:latin typeface="Arial Unicode MS"/>
                <a:ea typeface="Arial Unicode MS"/>
                <a:cs typeface="Arial Unicode MS"/>
              </a:defRPr>
            </a:lvl8pPr>
            <a:lvl9pPr>
              <a:buNone/>
              <a:defRPr sz="2325" b="1">
                <a:solidFill>
                  <a:srgbClr val="15796D"/>
                </a:solidFill>
                <a:latin typeface="Arial Unicode MS"/>
                <a:ea typeface="Arial Unicode MS"/>
                <a:cs typeface="Arial Unicode MS"/>
              </a:defRPr>
            </a:lvl9pPr>
          </a:lstStyle>
          <a:p xmlns:a="http://schemas.openxmlformats.org/drawingml/2006/main">
            <a:pPr>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고객 사양서   +   변경 합의서   +   내부 인계표</a:t>
            </a:r>
          </a:p>
        </p:txBody>
      </p:sp>
      <p:sp>
        <p:nvSpPr>
          <p:cNvPr id="4" name="fields-left">
            <a:extLst xmlns:a="http://schemas.openxmlformats.org/drawingml/2006/main">
              <a:ext uri="{FF2B5EF4-FFF2-40B4-BE49-F238E27FC236}">
                <a16:creationId xmlns:a16="http://schemas.microsoft.com/office/drawing/2014/main" id="{490E00A0-4493-4C3B-A3B7-185D07043F99}"/>
              </a:ext>
            </a:extLst>
          </p:cNvPr>
          <p:cNvSpPr>
            <a:spLocks xmlns:a="http://schemas.openxmlformats.org/drawingml/2006/main" noGrp="1"/>
          </p:cNvSpPr>
          <p:nvPr/>
        </p:nvSpPr>
        <p:spPr>
          <a:xfrm xmlns:a="http://schemas.openxmlformats.org/drawingml/2006/main">
            <a:off x="857250" y="2695575"/>
            <a:ext cx="4572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정격용량</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고압측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저압측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주파수</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상수</a:t>
            </a:r>
          </a:p>
        </p:txBody>
      </p:sp>
      <p:sp>
        <p:nvSpPr>
          <p:cNvPr id="5" name="fields-right">
            <a:extLst xmlns:a="http://schemas.openxmlformats.org/drawingml/2006/main">
              <a:ext uri="{FF2B5EF4-FFF2-40B4-BE49-F238E27FC236}">
                <a16:creationId xmlns:a16="http://schemas.microsoft.com/office/drawing/2014/main" id="{19C1EB32-B786-48D5-B770-D96D564A0379}"/>
              </a:ext>
            </a:extLst>
          </p:cNvPr>
          <p:cNvSpPr>
            <a:spLocks xmlns:a="http://schemas.openxmlformats.org/drawingml/2006/main" noGrp="1"/>
          </p:cNvSpPr>
          <p:nvPr/>
        </p:nvSpPr>
        <p:spPr>
          <a:xfrm xmlns:a="http://schemas.openxmlformats.org/drawingml/2006/main">
            <a:off x="6486525" y="2695575"/>
            <a:ext cx="47625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결선 그룹</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냉각 방식</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팬 보조전원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탭절환기 방식</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옥내형 / 옥외형</a:t>
            </a:r>
          </a:p>
        </p:txBody>
      </p:sp>
      <p:sp>
        <p:nvSpPr>
          <p:cNvPr id="6" name="limit">
            <a:extLst xmlns:a="http://schemas.openxmlformats.org/drawingml/2006/main">
              <a:ext uri="{FF2B5EF4-FFF2-40B4-BE49-F238E27FC236}">
                <a16:creationId xmlns:a16="http://schemas.microsoft.com/office/drawing/2014/main" id="{E1F5FE47-910C-4A16-B3AF-0131C735EA43}"/>
              </a:ext>
            </a:extLst>
          </p:cNvPr>
          <p:cNvSpPr>
            <a:spLocks xmlns:a="http://schemas.openxmlformats.org/drawingml/2006/main" noGrp="1"/>
          </p:cNvSpPr>
          <p:nvPr/>
        </p:nvSpPr>
        <p:spPr>
          <a:xfrm xmlns:a="http://schemas.openxmlformats.org/drawingml/2006/main">
            <a:off x="609600" y="569595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텍스트 PDF 3종, 파일당 5 MiB·20쪽 제한</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고객사 불명확 시 보류하며, 스캔·도면·다제품 문서는 지원하지 않습니다.</a:t>
            </a:r>
          </a:p>
        </p:txBody>
      </p:sp>
      <p:sp>
        <p:nvSpPr>
          <p:cNvPr id="8" name="tasks">
            <a:extLst xmlns:a="http://schemas.openxmlformats.org/drawingml/2006/main">
              <a:ext uri="{FF2B5EF4-FFF2-40B4-BE49-F238E27FC236}">
                <a16:creationId xmlns:a16="http://schemas.microsoft.com/office/drawing/2014/main" id="{9C3E97BD-300A-468E-9E1E-AFF65DB1213B}"/>
              </a:ext>
            </a:extLst>
          </p:cNvPr>
          <p:cNvSpPr>
            <a:spLocks xmlns:a="http://schemas.openxmlformats.org/drawingml/2006/main" noGrp="1"/>
          </p:cNvSpPr>
          <p:nvPr/>
        </p:nvSpPr>
        <p:spPr>
          <a:xfrm xmlns:a="http://schemas.openxmlformats.org/drawingml/2006/main">
            <a:off x="609600" y="2247900"/>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5796D"/>
                </a:solidFill>
                <a:latin typeface="Arial Unicode MS"/>
                <a:ea typeface="Arial Unicode MS"/>
                <a:cs typeface="Arial Unicode MS"/>
              </a:defRPr>
            </a:defPPr>
            <a:lvl1pPr>
              <a:defRPr sz="1725" b="0">
                <a:solidFill>
                  <a:srgbClr val="15796D"/>
                </a:solidFill>
                <a:latin typeface="Arial Unicode MS"/>
                <a:ea typeface="Arial Unicode MS"/>
                <a:cs typeface="Arial Unicode MS"/>
              </a:defRPr>
            </a:lvl1pPr>
            <a:lvl2pPr>
              <a:defRPr sz="1725" b="0">
                <a:solidFill>
                  <a:srgbClr val="15796D"/>
                </a:solidFill>
                <a:latin typeface="Arial Unicode MS"/>
                <a:ea typeface="Arial Unicode MS"/>
                <a:cs typeface="Arial Unicode MS"/>
              </a:defRPr>
            </a:lvl2pPr>
            <a:lvl3pPr>
              <a:defRPr sz="1725" b="0">
                <a:solidFill>
                  <a:srgbClr val="15796D"/>
                </a:solidFill>
                <a:latin typeface="Arial Unicode MS"/>
                <a:ea typeface="Arial Unicode MS"/>
                <a:cs typeface="Arial Unicode MS"/>
              </a:defRPr>
            </a:lvl3pPr>
            <a:lvl4pPr>
              <a:defRPr sz="1725" b="0">
                <a:solidFill>
                  <a:srgbClr val="15796D"/>
                </a:solidFill>
                <a:latin typeface="Arial Unicode MS"/>
                <a:ea typeface="Arial Unicode MS"/>
                <a:cs typeface="Arial Unicode MS"/>
              </a:defRPr>
            </a:lvl4pPr>
            <a:lvl5pPr>
              <a:defRPr sz="1725" b="0">
                <a:solidFill>
                  <a:srgbClr val="15796D"/>
                </a:solidFill>
                <a:latin typeface="Arial Unicode MS"/>
                <a:ea typeface="Arial Unicode MS"/>
                <a:cs typeface="Arial Unicode MS"/>
              </a:defRPr>
            </a:lvl5pPr>
            <a:lvl6pPr>
              <a:defRPr sz="1725" b="0">
                <a:solidFill>
                  <a:srgbClr val="15796D"/>
                </a:solidFill>
                <a:latin typeface="Arial Unicode MS"/>
                <a:ea typeface="Arial Unicode MS"/>
                <a:cs typeface="Arial Unicode MS"/>
              </a:defRPr>
            </a:lvl6pPr>
            <a:lvl7pPr>
              <a:defRPr sz="1725" b="0">
                <a:solidFill>
                  <a:srgbClr val="15796D"/>
                </a:solidFill>
                <a:latin typeface="Arial Unicode MS"/>
                <a:ea typeface="Arial Unicode MS"/>
                <a:cs typeface="Arial Unicode MS"/>
              </a:defRPr>
            </a:lvl7pPr>
            <a:lvl8pPr>
              <a:defRPr sz="1725" b="0">
                <a:solidFill>
                  <a:srgbClr val="15796D"/>
                </a:solidFill>
                <a:latin typeface="Arial Unicode MS"/>
                <a:ea typeface="Arial Unicode MS"/>
                <a:cs typeface="Arial Unicode MS"/>
              </a:defRPr>
            </a:lvl8pPr>
            <a:lvl9pPr>
              <a:defRPr sz="1725" b="0">
                <a:solidFill>
                  <a:srgbClr val="15796D"/>
                </a:solidFill>
                <a:latin typeface="Arial Unicode MS"/>
                <a:ea typeface="Arial Unicode MS"/>
                <a:cs typeface="Arial Unicode MS"/>
              </a:defRPr>
            </a:lvl9pPr>
          </a:lstStyle>
          <a:p xmlns:a="http://schemas.openxmlformats.org/drawingml/2006/main">
            <a:pPr>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주요 task   고객사 확인 · 근거 추출 · 변경 비교 · 결과 보관</a:t>
            </a:r>
          </a:p>
        </p:txBody>
      </p:sp>
    </p:spTree>
    <p:extLst>
      <p:ext uri="{BB962C8B-B14F-4D97-AF65-F5344CB8AC3E}">
        <p14:creationId xmlns:p14="http://schemas.microsoft.com/office/powerpoint/2010/main" val="255193384"/>
      </p:ext>
    </p:extLst>
  </p:cSld>
</p:sld>
</file>

<file path=ppt/slides/slide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B03B4C2D-0BAE-4CBB-8B71-0F50B93EE109}"/>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최종 실행 결과: 440 V와 380 V</a:t>
            </a:r>
          </a:p>
        </p:txBody>
      </p:sp>
      <p:sp>
        <p:nvSpPr>
          <p:cNvPr id="2" name="page">
            <a:extLst xmlns:a="http://schemas.openxmlformats.org/drawingml/2006/main">
              <a:ext uri="{FF2B5EF4-FFF2-40B4-BE49-F238E27FC236}">
                <a16:creationId xmlns:a16="http://schemas.microsoft.com/office/drawing/2014/main" id="{A5A4FE1C-B9B1-484D-8052-879FA7EE34E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04</a:t>
            </a:r>
          </a:p>
        </p:txBody>
      </p:sp>
      <p:pic>
        <p:nvPicPr>
          <p:cNvPr id="3" name="">
            <a:extLst xmlns:a="http://schemas.openxmlformats.org/drawingml/2006/main">
              <a:ext uri="{FF2B5EF4-FFF2-40B4-BE49-F238E27FC236}">
                <a16:creationId xmlns:a16="http://schemas.microsoft.com/office/drawing/2014/main" id="{EA38BEF1-9060-49A9-90BA-D36424AD403A}"/>
              </a:ext>
            </a:extLst>
          </p:cNvPr>
          <p:cNvPicPr>
            <a:picLocks xmlns:a="http://schemas.openxmlformats.org/drawingml/2006/main" noChangeAspect="1"/>
          </p:cNvPicPr>
          <p:nvPr/>
        </p:nvPicPr>
        <p:blipFill>
          <a:blip xmlns:r="http://schemas.openxmlformats.org/officeDocument/2006/relationships" xmlns:a="http://schemas.openxmlformats.org/drawingml/2006/main" r:embed="R75b7792dfc2f4aac"/>
          <a:stretch xmlns:a="http://schemas.openxmlformats.org/drawingml/2006/main"/>
        </p:blipFill>
        <p:spPr>
          <a:xfrm xmlns:a="http://schemas.openxmlformats.org/drawingml/2006/main">
            <a:off x="2288341" y="1600200"/>
            <a:ext cx="7615318" cy="4286250"/>
          </a:xfrm>
          <a:prstGeom xmlns:a="http://schemas.openxmlformats.org/drawingml/2006/main" prst="rect">
            <a:avLst/>
          </a:prstGeom>
        </p:spPr>
      </p:pic>
      <p:sp>
        <p:nvSpPr>
          <p:cNvPr id="4" name="caption">
            <a:extLst xmlns:a="http://schemas.openxmlformats.org/drawingml/2006/main">
              <a:ext uri="{FF2B5EF4-FFF2-40B4-BE49-F238E27FC236}">
                <a16:creationId xmlns:a16="http://schemas.microsoft.com/office/drawing/2014/main" id="{7FB429C2-12A6-4F44-BCBB-FEBF6549A827}"/>
              </a:ext>
            </a:extLst>
          </p:cNvPr>
          <p:cNvSpPr>
            <a:spLocks xmlns:a="http://schemas.openxmlformats.org/drawingml/2006/main" noGrp="1"/>
          </p:cNvSpPr>
          <p:nvPr/>
        </p:nvSpPr>
        <p:spPr>
          <a:xfrm xmlns:a="http://schemas.openxmlformats.org/drawingml/2006/main">
            <a:off x="609600" y="596265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V01: 9일치·1불일치  |  자동 검사 385개·화면 모의 검사 65개</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가상 PDF의 사전 실제 실행 화면입니다. 현업 정확도·시간 절감률은 미측정입니다.</a:t>
            </a:r>
          </a:p>
        </p:txBody>
      </p:sp>
    </p:spTree>
    <p:extLst>
      <p:ext uri="{BB962C8B-B14F-4D97-AF65-F5344CB8AC3E}">
        <p14:creationId xmlns:p14="http://schemas.microsoft.com/office/powerpoint/2010/main" val="1100250016"/>
      </p:ext>
    </p:extLst>
  </p:cSld>
</p:sld>
</file>

<file path=ppt/slides/slide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9" name="heading">
            <a:extLst xmlns:a="http://schemas.openxmlformats.org/drawingml/2006/main">
              <a:ext uri="{FF2B5EF4-FFF2-40B4-BE49-F238E27FC236}">
                <a16:creationId xmlns:a16="http://schemas.microsoft.com/office/drawing/2014/main" id="{7B1AE326-DFAD-4DAA-B9E4-9AA1E00AD0D5}"/>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Agent 실행 흐름과 호출 제어</a:t>
            </a:r>
          </a:p>
        </p:txBody>
      </p:sp>
      <p:sp>
        <p:nvSpPr>
          <p:cNvPr id="2" name="page">
            <a:extLst xmlns:a="http://schemas.openxmlformats.org/drawingml/2006/main">
              <a:ext uri="{FF2B5EF4-FFF2-40B4-BE49-F238E27FC236}">
                <a16:creationId xmlns:a16="http://schemas.microsoft.com/office/drawing/2014/main" id="{658C65FD-D804-4575-AC0F-7A3E30FC8B29}"/>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t>05</a:t>
            </a:r>
          </a:p>
        </p:txBody>
      </p:sp>
      <p:sp>
        <p:nvSpPr>
          <p:cNvPr id="3" name="flow-scope">
            <a:extLst xmlns:a="http://schemas.openxmlformats.org/drawingml/2006/main">
              <a:ext uri="{FF2B5EF4-FFF2-40B4-BE49-F238E27FC236}">
                <a16:creationId xmlns:a16="http://schemas.microsoft.com/office/drawing/2014/main" id="{A5DB8CE3-C816-4984-BB50-BCE4E9D20F22}"/>
              </a:ext>
            </a:extLst>
          </p:cNvPr>
          <p:cNvSpPr>
            <a:spLocks xmlns:a="http://schemas.openxmlformats.org/drawingml/2006/main" noGrp="1"/>
          </p:cNvSpPr>
          <p:nvPr/>
        </p:nvSpPr>
        <p:spPr>
          <a:xfrm xmlns:a="http://schemas.openxmlformats.org/drawingml/2006/main">
            <a:off x="609600" y="137160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defRPr sz="1650" b="0">
                <a:solidFill>
                  <a:srgbClr val="53676D"/>
                </a:solidFill>
                <a:latin typeface="Arial Unicode MS"/>
                <a:ea typeface="Arial Unicode MS"/>
                <a:cs typeface="Arial Unicode MS"/>
              </a:defRPr>
            </a:lvl1pPr>
            <a:lvl2pPr>
              <a:defRPr sz="1650" b="0">
                <a:solidFill>
                  <a:srgbClr val="53676D"/>
                </a:solidFill>
                <a:latin typeface="Arial Unicode MS"/>
                <a:ea typeface="Arial Unicode MS"/>
                <a:cs typeface="Arial Unicode MS"/>
              </a:defRPr>
            </a:lvl2pPr>
            <a:lvl3pPr>
              <a:defRPr sz="1650" b="0">
                <a:solidFill>
                  <a:srgbClr val="53676D"/>
                </a:solidFill>
                <a:latin typeface="Arial Unicode MS"/>
                <a:ea typeface="Arial Unicode MS"/>
                <a:cs typeface="Arial Unicode MS"/>
              </a:defRPr>
            </a:lvl3pPr>
            <a:lvl4pPr>
              <a:defRPr sz="1650" b="0">
                <a:solidFill>
                  <a:srgbClr val="53676D"/>
                </a:solidFill>
                <a:latin typeface="Arial Unicode MS"/>
                <a:ea typeface="Arial Unicode MS"/>
                <a:cs typeface="Arial Unicode MS"/>
              </a:defRPr>
            </a:lvl4pPr>
            <a:lvl5pPr>
              <a:defRPr sz="1650" b="0">
                <a:solidFill>
                  <a:srgbClr val="53676D"/>
                </a:solidFill>
                <a:latin typeface="Arial Unicode MS"/>
                <a:ea typeface="Arial Unicode MS"/>
                <a:cs typeface="Arial Unicode MS"/>
              </a:defRPr>
            </a:lvl5pPr>
            <a:lvl6pPr>
              <a:defRPr sz="1650" b="0">
                <a:solidFill>
                  <a:srgbClr val="53676D"/>
                </a:solidFill>
                <a:latin typeface="Arial Unicode MS"/>
                <a:ea typeface="Arial Unicode MS"/>
                <a:cs typeface="Arial Unicode MS"/>
              </a:defRPr>
            </a:lvl6pPr>
            <a:lvl7pPr>
              <a:defRPr sz="1650" b="0">
                <a:solidFill>
                  <a:srgbClr val="53676D"/>
                </a:solidFill>
                <a:latin typeface="Arial Unicode MS"/>
                <a:ea typeface="Arial Unicode MS"/>
                <a:cs typeface="Arial Unicode MS"/>
              </a:defRPr>
            </a:lvl7pPr>
            <a:lvl8pPr>
              <a:defRPr sz="1650" b="0">
                <a:solidFill>
                  <a:srgbClr val="53676D"/>
                </a:solidFill>
                <a:latin typeface="Arial Unicode MS"/>
                <a:ea typeface="Arial Unicode MS"/>
                <a:cs typeface="Arial Unicode MS"/>
              </a:defRPr>
            </a:lvl8pPr>
            <a:lvl9pPr>
              <a:defRPr sz="1650" b="0">
                <a:solidFill>
                  <a:srgbClr val="53676D"/>
                </a:solidFill>
                <a:latin typeface="Arial Unicode MS"/>
                <a:ea typeface="Arial Unicode MS"/>
                <a:cs typeface="Arial Unicode MS"/>
              </a:defRPr>
            </a:lvl9pPr>
          </a:lstStyle>
          <a:p xmlns:a="http://schemas.openxmlformats.org/drawingml/2006/main">
            <a:pPr>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Agent Graph 설명: 직접 구현한 Python 제어 흐름 · 텍스트 AI 모드</a:t>
            </a:r>
          </a:p>
        </p:txBody>
      </p:sp>
      <p:graphicFrame>
        <p:nvGraphicFramePr>
          <p:cNvPr id="4" name="">
            <a:extLst xmlns:a="http://schemas.openxmlformats.org/drawingml/2006/main">
              <a:ext uri="{FF2B5EF4-FFF2-40B4-BE49-F238E27FC236}">
                <a16:creationId xmlns:a16="http://schemas.microsoft.com/office/drawing/2014/main" id="{3036A091-78F6-48D9-9B3D-26AFF74B144A}"/>
              </a:ext>
            </a:extLst>
          </p:cNvPr>
          <p:cNvGraphicFramePr/>
          <p:nvPr/>
        </p:nvGraphicFramePr>
        <p:xfrm>
          <a:off xmlns:a="http://schemas.openxmlformats.org/drawingml/2006/main" x="609600" y="1933575"/>
          <a:ext xmlns:a="http://schemas.openxmlformats.org/drawingml/2006/main" cx="4667250" cy="3333750"/>
        </p:xfrm>
        <a:graphic xmlns:a="http://schemas.openxmlformats.org/drawingml/2006/main">
          <a:graphicData uri="http://schemas.openxmlformats.org/drawingml/2006/table">
            <a:tbl>
              <a:tblPr/>
              <a:tblGrid>
                <a:gridCol w="762000"/>
                <a:gridCol w="3905250"/>
              </a:tblGrid>
              <a:tr h="476250">
                <a:tc>
                  <a:txBody>
                    <a:bodyPr/>
                    <a:lstStyle/>
                    <a:p>
                      <a:r>
                        <a:rPr sz="1575" b="1">
                          <a:solidFill>
                            <a:srgbClr val="FFFFFF"/>
                          </a:solidFill>
                          <a:latin typeface="Arial Unicode MS"/>
                          <a:ea typeface="Arial Unicode MS"/>
                          <a:cs typeface="Arial Unicode MS"/>
                        </a:rPr>
                        <a:t>순서</a:t>
                      </a:r>
                    </a:p>
                  </a:txBody>
                  <a:tcPr marL="114300" marR="114300" marT="95250" marB="952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575" b="1">
                          <a:solidFill>
                            <a:srgbClr val="FFFFFF"/>
                          </a:solidFill>
                          <a:latin typeface="Arial Unicode MS"/>
                          <a:ea typeface="Arial Unicode MS"/>
                          <a:cs typeface="Arial Unicode MS"/>
                        </a:rPr>
                        <a:t>실행과 보류</a:t>
                      </a:r>
                    </a:p>
                  </a:txBody>
                  <a:tcPr marL="114300" marR="114300" marT="95250" marB="952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476250">
                <a:tc>
                  <a:txBody>
                    <a:bodyPr/>
                    <a:lstStyle/>
                    <a:p>
                      <a:r>
                        <a:rPr sz="1575" b="0">
                          <a:solidFill>
                            <a:srgbClr val="173C46"/>
                          </a:solidFill>
                          <a:latin typeface="Arial Unicode MS"/>
                          <a:ea typeface="Arial Unicode MS"/>
                          <a:cs typeface="Arial Unicode MS"/>
                        </a:rPr>
                        <a:t>1</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PDF·고객사 확인</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2</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AI 검색 계획 → 코드 검색</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r h="476250">
                <a:tc>
                  <a:txBody>
                    <a:bodyPr/>
                    <a:lstStyle/>
                    <a:p>
                      <a:r>
                        <a:rPr sz="1575" b="0">
                          <a:solidFill>
                            <a:srgbClr val="173C46"/>
                          </a:solidFill>
                          <a:latin typeface="Arial Unicode MS"/>
                          <a:ea typeface="Arial Unicode MS"/>
                          <a:cs typeface="Arial Unicode MS"/>
                        </a:rPr>
                        <a:t>3</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근거가 있을 때 AI 값 제안</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4</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코드로 원문·값·조건 검증</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r h="476250">
                <a:tc>
                  <a:txBody>
                    <a:bodyPr/>
                    <a:lstStyle/>
                    <a:p>
                      <a:r>
                        <a:rPr sz="1575" b="0">
                          <a:solidFill>
                            <a:srgbClr val="173C46"/>
                          </a:solidFill>
                          <a:latin typeface="Arial Unicode MS"/>
                          <a:ea typeface="Arial Unicode MS"/>
                          <a:cs typeface="Arial Unicode MS"/>
                        </a:rPr>
                        <a:t>5</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변경 선택 → 코드 사양 비교</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6</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결과·근거 보관과 보고서</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bl>
          </a:graphicData>
        </a:graphic>
      </p:graphicFrame>
      <p:sp>
        <p:nvSpPr>
          <p:cNvPr id="5" name="path">
            <a:extLst xmlns:a="http://schemas.openxmlformats.org/drawingml/2006/main">
              <a:ext uri="{FF2B5EF4-FFF2-40B4-BE49-F238E27FC236}">
                <a16:creationId xmlns:a16="http://schemas.microsoft.com/office/drawing/2014/main" id="{4B39D296-3F44-4713-80F0-A95A33EFD48F}"/>
              </a:ext>
            </a:extLst>
          </p:cNvPr>
          <p:cNvSpPr>
            <a:spLocks xmlns:a="http://schemas.openxmlformats.org/drawingml/2006/main" noGrp="1"/>
          </p:cNvSpPr>
          <p:nvPr/>
        </p:nvSpPr>
        <p:spPr>
          <a:xfrm xmlns:a="http://schemas.openxmlformats.org/drawingml/2006/main">
            <a:off x="5676900" y="1943100"/>
            <a:ext cx="5905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defRPr sz="1650" b="0">
                <a:solidFill>
                  <a:srgbClr val="53676D"/>
                </a:solidFill>
                <a:latin typeface="Arial Unicode MS"/>
                <a:ea typeface="Arial Unicode MS"/>
                <a:cs typeface="Arial Unicode MS"/>
              </a:defRPr>
            </a:lvl1pPr>
            <a:lvl2pPr>
              <a:defRPr sz="1650" b="0">
                <a:solidFill>
                  <a:srgbClr val="53676D"/>
                </a:solidFill>
                <a:latin typeface="Arial Unicode MS"/>
                <a:ea typeface="Arial Unicode MS"/>
                <a:cs typeface="Arial Unicode MS"/>
              </a:defRPr>
            </a:lvl2pPr>
            <a:lvl3pPr>
              <a:defRPr sz="1650" b="0">
                <a:solidFill>
                  <a:srgbClr val="53676D"/>
                </a:solidFill>
                <a:latin typeface="Arial Unicode MS"/>
                <a:ea typeface="Arial Unicode MS"/>
                <a:cs typeface="Arial Unicode MS"/>
              </a:defRPr>
            </a:lvl3pPr>
            <a:lvl4pPr>
              <a:defRPr sz="1650" b="0">
                <a:solidFill>
                  <a:srgbClr val="53676D"/>
                </a:solidFill>
                <a:latin typeface="Arial Unicode MS"/>
                <a:ea typeface="Arial Unicode MS"/>
                <a:cs typeface="Arial Unicode MS"/>
              </a:defRPr>
            </a:lvl4pPr>
            <a:lvl5pPr>
              <a:defRPr sz="1650" b="0">
                <a:solidFill>
                  <a:srgbClr val="53676D"/>
                </a:solidFill>
                <a:latin typeface="Arial Unicode MS"/>
                <a:ea typeface="Arial Unicode MS"/>
                <a:cs typeface="Arial Unicode MS"/>
              </a:defRPr>
            </a:lvl5pPr>
            <a:lvl6pPr>
              <a:defRPr sz="1650" b="0">
                <a:solidFill>
                  <a:srgbClr val="53676D"/>
                </a:solidFill>
                <a:latin typeface="Arial Unicode MS"/>
                <a:ea typeface="Arial Unicode MS"/>
                <a:cs typeface="Arial Unicode MS"/>
              </a:defRPr>
            </a:lvl6pPr>
            <a:lvl7pPr>
              <a:defRPr sz="1650" b="0">
                <a:solidFill>
                  <a:srgbClr val="53676D"/>
                </a:solidFill>
                <a:latin typeface="Arial Unicode MS"/>
                <a:ea typeface="Arial Unicode MS"/>
                <a:cs typeface="Arial Unicode MS"/>
              </a:defRPr>
            </a:lvl7pPr>
            <a:lvl8pPr>
              <a:defRPr sz="1650" b="0">
                <a:solidFill>
                  <a:srgbClr val="53676D"/>
                </a:solidFill>
                <a:latin typeface="Arial Unicode MS"/>
                <a:ea typeface="Arial Unicode MS"/>
                <a:cs typeface="Arial Unicode MS"/>
              </a:defRPr>
            </a:lvl8pPr>
            <a:lvl9pPr>
              <a:defRPr sz="1650" b="0">
                <a:solidFill>
                  <a:srgbClr val="53676D"/>
                </a:solidFill>
                <a:latin typeface="Arial Unicode MS"/>
                <a:ea typeface="Arial Unicode MS"/>
                <a:cs typeface="Arial Unicode MS"/>
              </a:defRPr>
            </a:lvl9pPr>
          </a:lstStyle>
          <a:p xmlns:a="http://schemas.openxmlformats.org/drawingml/2006/main">
            <a:pPr>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599–604행</a:t>
            </a:r>
          </a:p>
        </p:txBody>
      </p:sp>
      <p:sp>
        <p:nvSpPr>
          <p:cNvPr id="6" name="code">
            <a:extLst xmlns:a="http://schemas.openxmlformats.org/drawingml/2006/main">
              <a:ext uri="{FF2B5EF4-FFF2-40B4-BE49-F238E27FC236}">
                <a16:creationId xmlns:a16="http://schemas.microsoft.com/office/drawing/2014/main" id="{6CBA9F29-B460-47DA-9380-1B5F8D4E9519}"/>
              </a:ext>
            </a:extLst>
          </p:cNvPr>
          <p:cNvSpPr>
            <a:spLocks xmlns:a="http://schemas.openxmlformats.org/drawingml/2006/main" noGrp="1"/>
          </p:cNvSpPr>
          <p:nvPr/>
        </p:nvSpPr>
        <p:spPr>
          <a:xfrm xmlns:a="http://schemas.openxmlformats.org/drawingml/2006/main">
            <a:off x="5676900" y="2514600"/>
            <a:ext cx="5905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173C46"/>
                </a:solidFill>
                <a:latin typeface="Arial Unicode MS"/>
                <a:ea typeface="Arial Unicode MS"/>
                <a:cs typeface="Arial Unicode MS"/>
              </a:defRPr>
            </a:defPPr>
            <a:lvl1pPr>
              <a:defRPr sz="1500" b="0">
                <a:solidFill>
                  <a:srgbClr val="173C46"/>
                </a:solidFill>
                <a:latin typeface="Arial Unicode MS"/>
                <a:ea typeface="Arial Unicode MS"/>
                <a:cs typeface="Arial Unicode MS"/>
              </a:defRPr>
            </a:lvl1pPr>
            <a:lvl2pPr>
              <a:defRPr sz="1500" b="0">
                <a:solidFill>
                  <a:srgbClr val="173C46"/>
                </a:solidFill>
                <a:latin typeface="Arial Unicode MS"/>
                <a:ea typeface="Arial Unicode MS"/>
                <a:cs typeface="Arial Unicode MS"/>
              </a:defRPr>
            </a:lvl2pPr>
            <a:lvl3pPr>
              <a:defRPr sz="1500" b="0">
                <a:solidFill>
                  <a:srgbClr val="173C46"/>
                </a:solidFill>
                <a:latin typeface="Arial Unicode MS"/>
                <a:ea typeface="Arial Unicode MS"/>
                <a:cs typeface="Arial Unicode MS"/>
              </a:defRPr>
            </a:lvl3pPr>
            <a:lvl4pPr>
              <a:defRPr sz="1500" b="0">
                <a:solidFill>
                  <a:srgbClr val="173C46"/>
                </a:solidFill>
                <a:latin typeface="Arial Unicode MS"/>
                <a:ea typeface="Arial Unicode MS"/>
                <a:cs typeface="Arial Unicode MS"/>
              </a:defRPr>
            </a:lvl4pPr>
            <a:lvl5pPr>
              <a:defRPr sz="1500" b="0">
                <a:solidFill>
                  <a:srgbClr val="173C46"/>
                </a:solidFill>
                <a:latin typeface="Arial Unicode MS"/>
                <a:ea typeface="Arial Unicode MS"/>
                <a:cs typeface="Arial Unicode MS"/>
              </a:defRPr>
            </a:lvl5pPr>
            <a:lvl6pPr>
              <a:defRPr sz="1500" b="0">
                <a:solidFill>
                  <a:srgbClr val="173C46"/>
                </a:solidFill>
                <a:latin typeface="Arial Unicode MS"/>
                <a:ea typeface="Arial Unicode MS"/>
                <a:cs typeface="Arial Unicode MS"/>
              </a:defRPr>
            </a:lvl6pPr>
            <a:lvl7pPr>
              <a:defRPr sz="1500" b="0">
                <a:solidFill>
                  <a:srgbClr val="173C46"/>
                </a:solidFill>
                <a:latin typeface="Arial Unicode MS"/>
                <a:ea typeface="Arial Unicode MS"/>
                <a:cs typeface="Arial Unicode MS"/>
              </a:defRPr>
            </a:lvl7pPr>
            <a:lvl8pPr>
              <a:defRPr sz="1500" b="0">
                <a:solidFill>
                  <a:srgbClr val="173C46"/>
                </a:solidFill>
                <a:latin typeface="Arial Unicode MS"/>
                <a:ea typeface="Arial Unicode MS"/>
                <a:cs typeface="Arial Unicode MS"/>
              </a:defRPr>
            </a:lvl8pPr>
            <a:lvl9pPr>
              <a:defRPr sz="1500" b="0">
                <a:solidFill>
                  <a:srgbClr val="173C46"/>
                </a:solidFill>
                <a:latin typeface="Arial Unicode MS"/>
                <a:ea typeface="Arial Unicode MS"/>
                <a:cs typeface="Arial Unicode MS"/>
              </a:defRPr>
            </a:lvl9pPr>
          </a:lstStyle>
          <a:p xmlns:a="http://schemas.openxmlformats.org/drawingml/2006/main">
            <a:pPr>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def call(payload):</a:t>
            </a:r>
          </a:p>
          <a:p xmlns:a="http://schemas.openxmlformats.org/drawingml/2006/main">
            <a:pPr>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remaining = deadline - time.monotonic()</a:t>
            </a:r>
          </a:p>
          <a:p xmlns:a="http://schemas.openxmlformats.org/drawingml/2006/main">
            <a:pPr>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if remaining &lt;= 0 or output["llm_calls"] &gt;= 2:</a:t>
            </a:r>
          </a:p>
          <a:p xmlns:a="http://schemas.openxmlformats.org/drawingml/2006/main">
            <a:pPr>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raise TimeoutError("전체 실행 제한을 초과했습니다.")</a:t>
            </a:r>
          </a:p>
          <a:p xmlns:a="http://schemas.openxmlformats.org/drawingml/2006/main">
            <a:pPr>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output["llm_calls"] += 1</a:t>
            </a:r>
          </a:p>
          <a:p xmlns:a="http://schemas.openxmlformats.org/drawingml/2006/main">
            <a:pPr>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value = request(payload, remaining)</a:t>
            </a:r>
          </a:p>
        </p:txBody>
      </p:sp>
      <p:sp>
        <p:nvSpPr>
          <p:cNvPr id="7" name="budget">
            <a:extLst xmlns:a="http://schemas.openxmlformats.org/drawingml/2006/main">
              <a:ext uri="{FF2B5EF4-FFF2-40B4-BE49-F238E27FC236}">
                <a16:creationId xmlns:a16="http://schemas.microsoft.com/office/drawing/2014/main" id="{E8FADEE6-B0B8-4014-AC70-B0C48E1E7F91}"/>
              </a:ext>
            </a:extLst>
          </p:cNvPr>
          <p:cNvSpPr>
            <a:spLocks xmlns:a="http://schemas.openxmlformats.org/drawingml/2006/main" noGrp="1"/>
          </p:cNvSpPr>
          <p:nvPr/>
        </p:nvSpPr>
        <p:spPr>
          <a:xfrm xmlns:a="http://schemas.openxmlformats.org/drawingml/2006/main">
            <a:off x="5676900" y="4591050"/>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5796D"/>
                </a:solidFill>
                <a:latin typeface="Arial Unicode MS"/>
                <a:ea typeface="Arial Unicode MS"/>
                <a:cs typeface="Arial Unicode MS"/>
              </a:defRPr>
            </a:defPPr>
            <a:lvl1pPr>
              <a:defRPr sz="1725" b="0">
                <a:solidFill>
                  <a:srgbClr val="15796D"/>
                </a:solidFill>
                <a:latin typeface="Arial Unicode MS"/>
                <a:ea typeface="Arial Unicode MS"/>
                <a:cs typeface="Arial Unicode MS"/>
              </a:defRPr>
            </a:lvl1pPr>
            <a:lvl2pPr>
              <a:defRPr sz="1725" b="0">
                <a:solidFill>
                  <a:srgbClr val="15796D"/>
                </a:solidFill>
                <a:latin typeface="Arial Unicode MS"/>
                <a:ea typeface="Arial Unicode MS"/>
                <a:cs typeface="Arial Unicode MS"/>
              </a:defRPr>
            </a:lvl2pPr>
            <a:lvl3pPr>
              <a:defRPr sz="1725" b="0">
                <a:solidFill>
                  <a:srgbClr val="15796D"/>
                </a:solidFill>
                <a:latin typeface="Arial Unicode MS"/>
                <a:ea typeface="Arial Unicode MS"/>
                <a:cs typeface="Arial Unicode MS"/>
              </a:defRPr>
            </a:lvl3pPr>
            <a:lvl4pPr>
              <a:defRPr sz="1725" b="0">
                <a:solidFill>
                  <a:srgbClr val="15796D"/>
                </a:solidFill>
                <a:latin typeface="Arial Unicode MS"/>
                <a:ea typeface="Arial Unicode MS"/>
                <a:cs typeface="Arial Unicode MS"/>
              </a:defRPr>
            </a:lvl4pPr>
            <a:lvl5pPr>
              <a:defRPr sz="1725" b="0">
                <a:solidFill>
                  <a:srgbClr val="15796D"/>
                </a:solidFill>
                <a:latin typeface="Arial Unicode MS"/>
                <a:ea typeface="Arial Unicode MS"/>
                <a:cs typeface="Arial Unicode MS"/>
              </a:defRPr>
            </a:lvl5pPr>
            <a:lvl6pPr>
              <a:defRPr sz="1725" b="0">
                <a:solidFill>
                  <a:srgbClr val="15796D"/>
                </a:solidFill>
                <a:latin typeface="Arial Unicode MS"/>
                <a:ea typeface="Arial Unicode MS"/>
                <a:cs typeface="Arial Unicode MS"/>
              </a:defRPr>
            </a:lvl6pPr>
            <a:lvl7pPr>
              <a:defRPr sz="1725" b="0">
                <a:solidFill>
                  <a:srgbClr val="15796D"/>
                </a:solidFill>
                <a:latin typeface="Arial Unicode MS"/>
                <a:ea typeface="Arial Unicode MS"/>
                <a:cs typeface="Arial Unicode MS"/>
              </a:defRPr>
            </a:lvl7pPr>
            <a:lvl8pPr>
              <a:defRPr sz="1725" b="0">
                <a:solidFill>
                  <a:srgbClr val="15796D"/>
                </a:solidFill>
                <a:latin typeface="Arial Unicode MS"/>
                <a:ea typeface="Arial Unicode MS"/>
                <a:cs typeface="Arial Unicode MS"/>
              </a:defRPr>
            </a:lvl8pPr>
            <a:lvl9pPr>
              <a:defRPr sz="1725" b="0">
                <a:solidFill>
                  <a:srgbClr val="15796D"/>
                </a:solidFill>
                <a:latin typeface="Arial Unicode MS"/>
                <a:ea typeface="Arial Unicode MS"/>
                <a:cs typeface="Arial Unicode MS"/>
              </a:defRPr>
            </a:lvl9pPr>
          </a:lstStyle>
          <a:p xmlns:a="http://schemas.openxmlformats.org/drawingml/2006/main">
            <a:pPr>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추출 한 번당 최대 2회 · 총 90초 예산</a:t>
            </a:r>
          </a:p>
          <a:p xmlns:a="http://schemas.openxmlformats.org/drawingml/2006/main">
            <a:pPr>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근거 없음: 추가 추출 생략 / 검증 실패: 보류</a:t>
            </a:r>
          </a:p>
        </p:txBody>
      </p:sp>
      <p:sp>
        <p:nvSpPr>
          <p:cNvPr id="8" name="not-used">
            <a:extLst xmlns:a="http://schemas.openxmlformats.org/drawingml/2006/main">
              <a:ext uri="{FF2B5EF4-FFF2-40B4-BE49-F238E27FC236}">
                <a16:creationId xmlns:a16="http://schemas.microsoft.com/office/drawing/2014/main" id="{62AF5412-B794-47AD-B659-BC0587DEA80B}"/>
              </a:ext>
            </a:extLst>
          </p:cNvPr>
          <p:cNvSpPr>
            <a:spLocks xmlns:a="http://schemas.openxmlformats.org/drawingml/2006/main" noGrp="1"/>
          </p:cNvSpPr>
          <p:nvPr/>
        </p:nvSpPr>
        <p:spPr>
          <a:xfrm xmlns:a="http://schemas.openxmlformats.org/drawingml/2006/main">
            <a:off x="609600" y="5724525"/>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defRPr sz="1575" b="0">
                <a:solidFill>
                  <a:srgbClr val="53676D"/>
                </a:solidFill>
                <a:latin typeface="Arial Unicode MS"/>
                <a:ea typeface="Arial Unicode MS"/>
                <a:cs typeface="Arial Unicode MS"/>
              </a:defRPr>
            </a:lvl1pPr>
            <a:lvl2pPr>
              <a:defRPr sz="1575" b="0">
                <a:solidFill>
                  <a:srgbClr val="53676D"/>
                </a:solidFill>
                <a:latin typeface="Arial Unicode MS"/>
                <a:ea typeface="Arial Unicode MS"/>
                <a:cs typeface="Arial Unicode MS"/>
              </a:defRPr>
            </a:lvl2pPr>
            <a:lvl3pPr>
              <a:defRPr sz="1575" b="0">
                <a:solidFill>
                  <a:srgbClr val="53676D"/>
                </a:solidFill>
                <a:latin typeface="Arial Unicode MS"/>
                <a:ea typeface="Arial Unicode MS"/>
                <a:cs typeface="Arial Unicode MS"/>
              </a:defRPr>
            </a:lvl3pPr>
            <a:lvl4pPr>
              <a:defRPr sz="1575" b="0">
                <a:solidFill>
                  <a:srgbClr val="53676D"/>
                </a:solidFill>
                <a:latin typeface="Arial Unicode MS"/>
                <a:ea typeface="Arial Unicode MS"/>
                <a:cs typeface="Arial Unicode MS"/>
              </a:defRPr>
            </a:lvl4pPr>
            <a:lvl5pPr>
              <a:defRPr sz="1575" b="0">
                <a:solidFill>
                  <a:srgbClr val="53676D"/>
                </a:solidFill>
                <a:latin typeface="Arial Unicode MS"/>
                <a:ea typeface="Arial Unicode MS"/>
                <a:cs typeface="Arial Unicode MS"/>
              </a:defRPr>
            </a:lvl5pPr>
            <a:lvl6pPr>
              <a:defRPr sz="1575" b="0">
                <a:solidFill>
                  <a:srgbClr val="53676D"/>
                </a:solidFill>
                <a:latin typeface="Arial Unicode MS"/>
                <a:ea typeface="Arial Unicode MS"/>
                <a:cs typeface="Arial Unicode MS"/>
              </a:defRPr>
            </a:lvl6pPr>
            <a:lvl7pPr>
              <a:defRPr sz="1575" b="0">
                <a:solidFill>
                  <a:srgbClr val="53676D"/>
                </a:solidFill>
                <a:latin typeface="Arial Unicode MS"/>
                <a:ea typeface="Arial Unicode MS"/>
                <a:cs typeface="Arial Unicode MS"/>
              </a:defRPr>
            </a:lvl7pPr>
            <a:lvl8pPr>
              <a:defRPr sz="1575" b="0">
                <a:solidFill>
                  <a:srgbClr val="53676D"/>
                </a:solidFill>
                <a:latin typeface="Arial Unicode MS"/>
                <a:ea typeface="Arial Unicode MS"/>
                <a:cs typeface="Arial Unicode MS"/>
              </a:defRPr>
            </a:lvl8pPr>
            <a:lvl9pPr>
              <a:defRPr sz="1575" b="0">
                <a:solidFill>
                  <a:srgbClr val="53676D"/>
                </a:solidFill>
                <a:latin typeface="Arial Unicode MS"/>
                <a:ea typeface="Arial Unicode MS"/>
                <a:cs typeface="Arial Unicode MS"/>
              </a:defRPr>
            </a:lvl9pPr>
          </a:lstStyle>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Multi-Agent · MCP · LangGraph · LangSmith는 사용하지 않았습니다.</a:t>
            </a:r>
          </a:p>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별도 AI 구조 확인 버튼은 추가 호출 경로입니다.</a:t>
            </a:r>
          </a:p>
        </p:txBody>
      </p:sp>
    </p:spTree>
    <p:extLst>
      <p:ext uri="{BB962C8B-B14F-4D97-AF65-F5344CB8AC3E}">
        <p14:creationId xmlns:p14="http://schemas.microsoft.com/office/powerpoint/2010/main" val="112592268"/>
      </p:ext>
    </p:extLst>
  </p:cSld>
</p:sld>
</file>

<file path=ppt/slides/slide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B4A4428-12E6-46B1-B220-46846213FE5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1  근거 검색</a:t>
            </a:r>
          </a:p>
        </p:txBody>
      </p:sp>
      <p:sp>
        <p:nvSpPr>
          <p:cNvPr id="2" name="page">
            <a:extLst xmlns:a="http://schemas.openxmlformats.org/drawingml/2006/main">
              <a:ext uri="{FF2B5EF4-FFF2-40B4-BE49-F238E27FC236}">
                <a16:creationId xmlns:a16="http://schemas.microsoft.com/office/drawing/2014/main" id="{D4B1A1BC-A4AB-4C15-A603-E9EC0DB2450F}"/>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06</a:t>
            </a:r>
          </a:p>
        </p:txBody>
      </p:sp>
      <p:sp>
        <p:nvSpPr>
          <p:cNvPr id="3" name="path">
            <a:extLst xmlns:a="http://schemas.openxmlformats.org/drawingml/2006/main">
              <a:ext uri="{FF2B5EF4-FFF2-40B4-BE49-F238E27FC236}">
                <a16:creationId xmlns:a16="http://schemas.microsoft.com/office/drawing/2014/main" id="{DF808DAE-23BA-444A-AC10-105A513AA58A}"/>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a:t>
            </a:r>
            <a:r>
              <a:rPr sz="1650" b="0">
                <a:solidFill>
                  <a:srgbClr val="53676D"/>
                </a:solidFill>
                <a:latin typeface="Arial Unicode MS"/>
                <a:ea typeface="Arial Unicode MS"/>
                <a:cs typeface="Arial Unicode MS"/>
              </a:rPr>
              <a:t>314–322</a:t>
            </a:r>
            <a:r>
              <a:rPr sz="1650" b="0">
                <a:solidFill>
                  <a:srgbClr val="53676D"/>
                </a:solidFill>
                <a:latin typeface="Arial Unicode MS"/>
                <a:ea typeface="Arial Unicode MS"/>
                <a:cs typeface="Arial Unicode MS"/>
              </a:rPr>
              <a:t>행, 실제 코드 일부</a:t>
            </a:r>
          </a:p>
        </p:txBody>
      </p:sp>
      <p:sp>
        <p:nvSpPr>
          <p:cNvPr id="4" name="code">
            <a:extLst xmlns:a="http://schemas.openxmlformats.org/drawingml/2006/main">
              <a:ext uri="{FF2B5EF4-FFF2-40B4-BE49-F238E27FC236}">
                <a16:creationId xmlns:a16="http://schemas.microsoft.com/office/drawing/2014/main" id="{30B39EA8-859D-4B11-8773-DEEF2CF3AD15}"/>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buNone/>
              <a:defRPr sz="1800" b="0">
                <a:solidFill>
                  <a:srgbClr val="173C46"/>
                </a:solidFill>
                <a:latin typeface="Arial Unicode MS"/>
                <a:ea typeface="Arial Unicode MS"/>
                <a:cs typeface="Arial Unicode MS"/>
              </a:defRPr>
            </a:lvl1pPr>
            <a:lvl2pPr>
              <a:buNone/>
              <a:defRPr sz="1800" b="0">
                <a:solidFill>
                  <a:srgbClr val="173C46"/>
                </a:solidFill>
                <a:latin typeface="Arial Unicode MS"/>
                <a:ea typeface="Arial Unicode MS"/>
                <a:cs typeface="Arial Unicode MS"/>
              </a:defRPr>
            </a:lvl2pPr>
            <a:lvl3pPr>
              <a:buNone/>
              <a:defRPr sz="1800" b="0">
                <a:solidFill>
                  <a:srgbClr val="173C46"/>
                </a:solidFill>
                <a:latin typeface="Arial Unicode MS"/>
                <a:ea typeface="Arial Unicode MS"/>
                <a:cs typeface="Arial Unicode MS"/>
              </a:defRPr>
            </a:lvl3pPr>
            <a:lvl4pPr>
              <a:buNone/>
              <a:defRPr sz="1800" b="0">
                <a:solidFill>
                  <a:srgbClr val="173C46"/>
                </a:solidFill>
                <a:latin typeface="Arial Unicode MS"/>
                <a:ea typeface="Arial Unicode MS"/>
                <a:cs typeface="Arial Unicode MS"/>
              </a:defRPr>
            </a:lvl4pPr>
            <a:lvl5pPr>
              <a:buNone/>
              <a:defRPr sz="1800" b="0">
                <a:solidFill>
                  <a:srgbClr val="173C46"/>
                </a:solidFill>
                <a:latin typeface="Arial Unicode MS"/>
                <a:ea typeface="Arial Unicode MS"/>
                <a:cs typeface="Arial Unicode MS"/>
              </a:defRPr>
            </a:lvl5pPr>
            <a:lvl6pPr>
              <a:buNone/>
              <a:defRPr sz="1800" b="0">
                <a:solidFill>
                  <a:srgbClr val="173C46"/>
                </a:solidFill>
                <a:latin typeface="Arial Unicode MS"/>
                <a:ea typeface="Arial Unicode MS"/>
                <a:cs typeface="Arial Unicode MS"/>
              </a:defRPr>
            </a:lvl6pPr>
            <a:lvl7pPr>
              <a:buNone/>
              <a:defRPr sz="1800" b="0">
                <a:solidFill>
                  <a:srgbClr val="173C46"/>
                </a:solidFill>
                <a:latin typeface="Arial Unicode MS"/>
                <a:ea typeface="Arial Unicode MS"/>
                <a:cs typeface="Arial Unicode MS"/>
              </a:defRPr>
            </a:lvl7pPr>
            <a:lvl8pPr>
              <a:buNone/>
              <a:defRPr sz="1800" b="0">
                <a:solidFill>
                  <a:srgbClr val="173C46"/>
                </a:solidFill>
                <a:latin typeface="Arial Unicode MS"/>
                <a:ea typeface="Arial Unicode MS"/>
                <a:cs typeface="Arial Unicode MS"/>
              </a:defRPr>
            </a:lvl8pPr>
            <a:lvl9pPr>
              <a:buNone/>
              <a:defRPr sz="1800" b="0">
                <a:solidFill>
                  <a:srgbClr val="173C46"/>
                </a:solidFill>
                <a:latin typeface="Arial Unicode MS"/>
                <a:ea typeface="Arial Unicode MS"/>
                <a:cs typeface="Arial Unicode MS"/>
              </a:defRPr>
            </a:lvl9pPr>
          </a:lstStyle>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score = 1 + sum(term in text.casefold() for term in terms)</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ranked.append((score, occurrence))</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ranked.sort(key=lambda pair: (-pair[0], pair[1]["page"], pair[1]["start"]))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for _, occurrence in ranked[:2]:</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text = occurrence["text"][:min(MAX_SNIPPET_CHARACTERS, query_budget)]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if not text: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continue</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budget -= len(text)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query_budget -= len(text)</a:t>
            </a:r>
          </a:p>
        </p:txBody>
      </p:sp>
      <p:sp>
        <p:nvSpPr>
          <p:cNvPr id="5" name="explain">
            <a:extLst xmlns:a="http://schemas.openxmlformats.org/drawingml/2006/main">
              <a:ext uri="{FF2B5EF4-FFF2-40B4-BE49-F238E27FC236}">
                <a16:creationId xmlns:a16="http://schemas.microsoft.com/office/drawing/2014/main" id="{B2D0F95A-4946-4146-BBB9-DF0EE05890B1}"/>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문서·항목·검색어를 받아 상위 원문을 찾습니다.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페이지와 인용문을 붙여 다음 AI 추출 요청에 전달합니다.</a:t>
            </a:r>
          </a:p>
        </p:txBody>
      </p:sp>
    </p:spTree>
    <p:extLst>
      <p:ext uri="{BB962C8B-B14F-4D97-AF65-F5344CB8AC3E}">
        <p14:creationId xmlns:p14="http://schemas.microsoft.com/office/powerpoint/2010/main" val="582785136"/>
      </p:ext>
    </p:extLst>
  </p:cSld>
</p:sld>
</file>

<file path=ppt/slides/slide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24C161CC-340F-463C-93B7-1D793454E77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2  원문과 제안값 검증</a:t>
            </a:r>
          </a:p>
        </p:txBody>
      </p:sp>
      <p:sp>
        <p:nvSpPr>
          <p:cNvPr id="2" name="page">
            <a:extLst xmlns:a="http://schemas.openxmlformats.org/drawingml/2006/main">
              <a:ext uri="{FF2B5EF4-FFF2-40B4-BE49-F238E27FC236}">
                <a16:creationId xmlns:a16="http://schemas.microsoft.com/office/drawing/2014/main" id="{06C7515D-DD6B-4A4F-8D3C-CF893141983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07</a:t>
            </a:r>
          </a:p>
        </p:txBody>
      </p:sp>
      <p:sp>
        <p:nvSpPr>
          <p:cNvPr id="3" name="path">
            <a:extLst xmlns:a="http://schemas.openxmlformats.org/drawingml/2006/main">
              <a:ext uri="{FF2B5EF4-FFF2-40B4-BE49-F238E27FC236}">
                <a16:creationId xmlns:a16="http://schemas.microsoft.com/office/drawing/2014/main" id="{B581032A-BAB2-4C94-9E8C-E31D737E8AE1}"/>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a:t>
            </a:r>
            <a:r>
              <a:rPr sz="1650" b="0">
                <a:solidFill>
                  <a:srgbClr val="53676D"/>
                </a:solidFill>
                <a:latin typeface="Arial Unicode MS"/>
                <a:ea typeface="Arial Unicode MS"/>
                <a:cs typeface="Arial Unicode MS"/>
              </a:rPr>
              <a:t>544–551</a:t>
            </a:r>
            <a:r>
              <a:rPr sz="1650" b="0">
                <a:solidFill>
                  <a:srgbClr val="53676D"/>
                </a:solidFill>
                <a:latin typeface="Arial Unicode MS"/>
                <a:ea typeface="Arial Unicode MS"/>
                <a:cs typeface="Arial Unicode MS"/>
              </a:rPr>
              <a:t>행, 수치 검증 분기</a:t>
            </a:r>
          </a:p>
        </p:txBody>
      </p:sp>
      <p:sp>
        <p:nvSpPr>
          <p:cNvPr id="4" name="code">
            <a:extLst xmlns:a="http://schemas.openxmlformats.org/drawingml/2006/main">
              <a:ext uri="{FF2B5EF4-FFF2-40B4-BE49-F238E27FC236}">
                <a16:creationId xmlns:a16="http://schemas.microsoft.com/office/drawing/2014/main" id="{BE6AC2D4-FFDD-4C33-A078-99C5CBAAE380}"/>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buNone/>
              <a:defRPr sz="1800" b="0">
                <a:solidFill>
                  <a:srgbClr val="173C46"/>
                </a:solidFill>
                <a:latin typeface="Arial Unicode MS"/>
                <a:ea typeface="Arial Unicode MS"/>
                <a:cs typeface="Arial Unicode MS"/>
              </a:defRPr>
            </a:lvl1pPr>
            <a:lvl2pPr>
              <a:buNone/>
              <a:defRPr sz="1800" b="0">
                <a:solidFill>
                  <a:srgbClr val="173C46"/>
                </a:solidFill>
                <a:latin typeface="Arial Unicode MS"/>
                <a:ea typeface="Arial Unicode MS"/>
                <a:cs typeface="Arial Unicode MS"/>
              </a:defRPr>
            </a:lvl2pPr>
            <a:lvl3pPr>
              <a:buNone/>
              <a:defRPr sz="1800" b="0">
                <a:solidFill>
                  <a:srgbClr val="173C46"/>
                </a:solidFill>
                <a:latin typeface="Arial Unicode MS"/>
                <a:ea typeface="Arial Unicode MS"/>
                <a:cs typeface="Arial Unicode MS"/>
              </a:defRPr>
            </a:lvl3pPr>
            <a:lvl4pPr>
              <a:buNone/>
              <a:defRPr sz="1800" b="0">
                <a:solidFill>
                  <a:srgbClr val="173C46"/>
                </a:solidFill>
                <a:latin typeface="Arial Unicode MS"/>
                <a:ea typeface="Arial Unicode MS"/>
                <a:cs typeface="Arial Unicode MS"/>
              </a:defRPr>
            </a:lvl4pPr>
            <a:lvl5pPr>
              <a:buNone/>
              <a:defRPr sz="1800" b="0">
                <a:solidFill>
                  <a:srgbClr val="173C46"/>
                </a:solidFill>
                <a:latin typeface="Arial Unicode MS"/>
                <a:ea typeface="Arial Unicode MS"/>
                <a:cs typeface="Arial Unicode MS"/>
              </a:defRPr>
            </a:lvl5pPr>
            <a:lvl6pPr>
              <a:buNone/>
              <a:defRPr sz="1800" b="0">
                <a:solidFill>
                  <a:srgbClr val="173C46"/>
                </a:solidFill>
                <a:latin typeface="Arial Unicode MS"/>
                <a:ea typeface="Arial Unicode MS"/>
                <a:cs typeface="Arial Unicode MS"/>
              </a:defRPr>
            </a:lvl6pPr>
            <a:lvl7pPr>
              <a:buNone/>
              <a:defRPr sz="1800" b="0">
                <a:solidFill>
                  <a:srgbClr val="173C46"/>
                </a:solidFill>
                <a:latin typeface="Arial Unicode MS"/>
                <a:ea typeface="Arial Unicode MS"/>
                <a:cs typeface="Arial Unicode MS"/>
              </a:defRPr>
            </a:lvl7pPr>
            <a:lvl8pPr>
              <a:buNone/>
              <a:defRPr sz="1800" b="0">
                <a:solidFill>
                  <a:srgbClr val="173C46"/>
                </a:solidFill>
                <a:latin typeface="Arial Unicode MS"/>
                <a:ea typeface="Arial Unicode MS"/>
                <a:cs typeface="Arial Unicode MS"/>
              </a:defRPr>
            </a:lvl8pPr>
            <a:lvl9pPr>
              <a:buNone/>
              <a:defRPr sz="1800" b="0">
                <a:solidFill>
                  <a:srgbClr val="173C46"/>
                </a:solidFill>
                <a:latin typeface="Arial Unicode MS"/>
                <a:ea typeface="Arial Unicode MS"/>
                <a:cs typeface="Arial Unicode MS"/>
              </a:defRPr>
            </a:lvl9pPr>
          </a:lstStyle>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matching = [token for token in tokens if token == (proposal["value"], proposal["unit"])]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quoted = [token for token in quote_tokens if token == (proposal["value"], proposal["unit"])]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matching:</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원문의 단일 결합 표기와 일치하지 않습니다."</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quoted:</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인용에 제안된 값·단위가 함께 존재하지 않습니다."</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any(_direct_binding(field, value, unit, quote) for value, unit in quoted):</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해당 항목명에 직접 연결된 단일 표기가 아닙니다."</a:t>
            </a:r>
          </a:p>
        </p:txBody>
      </p:sp>
      <p:sp>
        <p:nvSpPr>
          <p:cNvPr id="5" name="explain">
            <a:extLst xmlns:a="http://schemas.openxmlformats.org/drawingml/2006/main">
              <a:ext uri="{FF2B5EF4-FFF2-40B4-BE49-F238E27FC236}">
                <a16:creationId xmlns:a16="http://schemas.microsoft.com/office/drawing/2014/main" id="{A43D5515-D018-4985-8887-9F8FE089AA74}"/>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원문과 인용에 같은 값·단위가 있는지 확인합니다.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해당 항목과 직접 연결되지 않은 값은 보류합니다.</a:t>
            </a:r>
          </a:p>
        </p:txBody>
      </p:sp>
    </p:spTree>
    <p:extLst>
      <p:ext uri="{BB962C8B-B14F-4D97-AF65-F5344CB8AC3E}">
        <p14:creationId xmlns:p14="http://schemas.microsoft.com/office/powerpoint/2010/main" val="253811718"/>
      </p:ext>
    </p:extLst>
  </p:cSld>
</p:sld>
</file>

<file path=ppt/slides/slide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B33816F6-90FA-4853-B625-B1C9A7E043C4}"/>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3  사양 비교와 보류</a:t>
            </a:r>
          </a:p>
        </p:txBody>
      </p:sp>
      <p:sp>
        <p:nvSpPr>
          <p:cNvPr id="2" name="page">
            <a:extLst xmlns:a="http://schemas.openxmlformats.org/drawingml/2006/main">
              <a:ext uri="{FF2B5EF4-FFF2-40B4-BE49-F238E27FC236}">
                <a16:creationId xmlns:a16="http://schemas.microsoft.com/office/drawing/2014/main" id="{6D746878-BF90-4ABE-B52E-A2EC6CFE956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08</a:t>
            </a:r>
          </a:p>
        </p:txBody>
      </p:sp>
      <p:sp>
        <p:nvSpPr>
          <p:cNvPr id="3" name="path">
            <a:extLst xmlns:a="http://schemas.openxmlformats.org/drawingml/2006/main">
              <a:ext uri="{FF2B5EF4-FFF2-40B4-BE49-F238E27FC236}">
                <a16:creationId xmlns:a16="http://schemas.microsoft.com/office/drawing/2014/main" id="{6F1EEA64-99E0-4407-ADB4-3C5C2CA9302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review.py  ·  193–200행, 변경 적용·정규화 이후</a:t>
            </a:r>
          </a:p>
        </p:txBody>
      </p:sp>
      <p:sp>
        <p:nvSpPr>
          <p:cNvPr id="4" name="code">
            <a:extLst xmlns:a="http://schemas.openxmlformats.org/drawingml/2006/main">
              <a:ext uri="{FF2B5EF4-FFF2-40B4-BE49-F238E27FC236}">
                <a16:creationId xmlns:a16="http://schemas.microsoft.com/office/drawing/2014/main" id="{09682B04-C578-48A0-8C42-7D0EB6517C02}"/>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73C46"/>
                </a:solidFill>
                <a:latin typeface="Arial Unicode MS"/>
                <a:ea typeface="Arial Unicode MS"/>
                <a:cs typeface="Arial Unicode MS"/>
              </a:defRPr>
            </a:defPPr>
            <a:lvl1pPr>
              <a:buNone/>
              <a:defRPr sz="1725" b="0">
                <a:solidFill>
                  <a:srgbClr val="173C46"/>
                </a:solidFill>
                <a:latin typeface="Arial Unicode MS"/>
                <a:ea typeface="Arial Unicode MS"/>
                <a:cs typeface="Arial Unicode MS"/>
              </a:defRPr>
            </a:lvl1pPr>
            <a:lvl2pPr>
              <a:buNone/>
              <a:defRPr sz="1725" b="0">
                <a:solidFill>
                  <a:srgbClr val="173C46"/>
                </a:solidFill>
                <a:latin typeface="Arial Unicode MS"/>
                <a:ea typeface="Arial Unicode MS"/>
                <a:cs typeface="Arial Unicode MS"/>
              </a:defRPr>
            </a:lvl2pPr>
            <a:lvl3pPr>
              <a:buNone/>
              <a:defRPr sz="1725" b="0">
                <a:solidFill>
                  <a:srgbClr val="173C46"/>
                </a:solidFill>
                <a:latin typeface="Arial Unicode MS"/>
                <a:ea typeface="Arial Unicode MS"/>
                <a:cs typeface="Arial Unicode MS"/>
              </a:defRPr>
            </a:lvl3pPr>
            <a:lvl4pPr>
              <a:buNone/>
              <a:defRPr sz="1725" b="0">
                <a:solidFill>
                  <a:srgbClr val="173C46"/>
                </a:solidFill>
                <a:latin typeface="Arial Unicode MS"/>
                <a:ea typeface="Arial Unicode MS"/>
                <a:cs typeface="Arial Unicode MS"/>
              </a:defRPr>
            </a:lvl4pPr>
            <a:lvl5pPr>
              <a:buNone/>
              <a:defRPr sz="1725" b="0">
                <a:solidFill>
                  <a:srgbClr val="173C46"/>
                </a:solidFill>
                <a:latin typeface="Arial Unicode MS"/>
                <a:ea typeface="Arial Unicode MS"/>
                <a:cs typeface="Arial Unicode MS"/>
              </a:defRPr>
            </a:lvl5pPr>
            <a:lvl6pPr>
              <a:buNone/>
              <a:defRPr sz="1725" b="0">
                <a:solidFill>
                  <a:srgbClr val="173C46"/>
                </a:solidFill>
                <a:latin typeface="Arial Unicode MS"/>
                <a:ea typeface="Arial Unicode MS"/>
                <a:cs typeface="Arial Unicode MS"/>
              </a:defRPr>
            </a:lvl6pPr>
            <a:lvl7pPr>
              <a:buNone/>
              <a:defRPr sz="1725" b="0">
                <a:solidFill>
                  <a:srgbClr val="173C46"/>
                </a:solidFill>
                <a:latin typeface="Arial Unicode MS"/>
                <a:ea typeface="Arial Unicode MS"/>
                <a:cs typeface="Arial Unicode MS"/>
              </a:defRPr>
            </a:lvl7pPr>
            <a:lvl8pPr>
              <a:buNone/>
              <a:defRPr sz="1725" b="0">
                <a:solidFill>
                  <a:srgbClr val="173C46"/>
                </a:solidFill>
                <a:latin typeface="Arial Unicode MS"/>
                <a:ea typeface="Arial Unicode MS"/>
                <a:cs typeface="Arial Unicode MS"/>
              </a:defRPr>
            </a:lvl8pPr>
            <a:lvl9pPr>
              <a:buNone/>
              <a:defRPr sz="1725" b="0">
                <a:solidFill>
                  <a:srgbClr val="173C46"/>
                </a:solidFill>
                <a:latin typeface="Arial Unicode MS"/>
                <a:ea typeface="Arial Unicode MS"/>
                <a:cs typeface="Arial Unicode MS"/>
              </a:defRPr>
            </a:lvl9pPr>
          </a:lstStyle>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expected.condition != actual.condition:</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raise UncertainValue("부품·운전조건 등 비교 조건이 같지 않거나 한쪽에서만 명시됐습니다.")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expected.comparable == actual.comparable:</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item.update(status="MATCH", reason="명시된 동일 항목·조건에서 단위 정규화 후 값이 같습니다.")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else:</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item.update(status="MISMATCH", reason="명시된 동일 항목·조건에서 단위 정규화 후 값이 다릅니다.")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except UncertainValue as exc:</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item.update(status="NEEDS_REVIEW", reason=str(exc))</a:t>
            </a:r>
          </a:p>
        </p:txBody>
      </p:sp>
      <p:sp>
        <p:nvSpPr>
          <p:cNvPr id="5" name="explain">
            <a:extLst xmlns:a="http://schemas.openxmlformats.org/drawingml/2006/main">
              <a:ext uri="{FF2B5EF4-FFF2-40B4-BE49-F238E27FC236}">
                <a16:creationId xmlns:a16="http://schemas.microsoft.com/office/drawing/2014/main" id="{7700C6C7-8638-4BCA-B222-E70901C45D6C}"/>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같은 운전조건에서 정규화된 사양값을 비교합니다.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출처·값·조건이 불확실하면 확인 필요로 남깁니다.</a:t>
            </a:r>
          </a:p>
        </p:txBody>
      </p:sp>
    </p:spTree>
    <p:extLst>
      <p:ext uri="{BB962C8B-B14F-4D97-AF65-F5344CB8AC3E}">
        <p14:creationId xmlns:p14="http://schemas.microsoft.com/office/powerpoint/2010/main" val="1776768904"/>
      </p:ext>
    </p:extLst>
  </p:cSld>
</p:sld>
</file>

<file path=ppt/slides/slide9.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78DF1C7F-38C7-4CFE-8FC9-EA90635155DF}"/>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4  의존성 주입과 테스트</a:t>
            </a:r>
          </a:p>
        </p:txBody>
      </p:sp>
      <p:sp>
        <p:nvSpPr>
          <p:cNvPr id="2" name="page">
            <a:extLst xmlns:a="http://schemas.openxmlformats.org/drawingml/2006/main">
              <a:ext uri="{FF2B5EF4-FFF2-40B4-BE49-F238E27FC236}">
                <a16:creationId xmlns:a16="http://schemas.microsoft.com/office/drawing/2014/main" id="{9D79EA43-1511-48C7-A3F2-93F56B11FB22}"/>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09</a:t>
            </a:r>
          </a:p>
        </p:txBody>
      </p:sp>
      <p:sp>
        <p:nvSpPr>
          <p:cNvPr id="3" name="path">
            <a:extLst xmlns:a="http://schemas.openxmlformats.org/drawingml/2006/main">
              <a:ext uri="{FF2B5EF4-FFF2-40B4-BE49-F238E27FC236}">
                <a16:creationId xmlns:a16="http://schemas.microsoft.com/office/drawing/2014/main" id="{67FD7819-8D53-4B93-AB23-0279ED5CCB1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test_extraction_agent.py  ·  86–94행, 고정 응답 시험</a:t>
            </a:r>
          </a:p>
        </p:txBody>
      </p:sp>
      <p:sp>
        <p:nvSpPr>
          <p:cNvPr id="4" name="code">
            <a:extLst xmlns:a="http://schemas.openxmlformats.org/drawingml/2006/main">
              <a:ext uri="{FF2B5EF4-FFF2-40B4-BE49-F238E27FC236}">
                <a16:creationId xmlns:a16="http://schemas.microsoft.com/office/drawing/2014/main" id="{FE678D44-55E5-4EF7-B0A4-4A67BADF1482}"/>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before = deepcopy(self.documents)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result, request = run_with(self.documents, self.proposals)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self.assertEqual(result["status"], "completed")</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self.assertEqual(result["accepted_fields"], EXAMPLE_FIELDS)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self.assertEqual(result["proposed_fields"], EXAMPLE_FIELDS)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self.assertEqual(result["llm_calls"], 2)</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self.assertEqual(request.call_count, 2)</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self.assertEqual(self.documents, before)</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self.assertEqual(field_of(result)["value"], "380")</a:t>
            </a:r>
          </a:p>
        </p:txBody>
      </p:sp>
      <p:sp>
        <p:nvSpPr>
          <p:cNvPr id="5" name="explain">
            <a:extLst xmlns:a="http://schemas.openxmlformats.org/drawingml/2006/main">
              <a:ext uri="{FF2B5EF4-FFF2-40B4-BE49-F238E27FC236}">
                <a16:creationId xmlns:a16="http://schemas.microsoft.com/office/drawing/2014/main" id="{6E738381-53DA-4AA8-A660-E3BEB9D4C7A7}"/>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모델 요청 함수를 교체해 같은 조건으로 검사합니다.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2회 호출과 입력 보존을 확인하며, AI 정확도와 구분합니다.</a:t>
            </a:r>
          </a:p>
        </p:txBody>
      </p:sp>
    </p:spTree>
    <p:extLst>
      <p:ext uri="{BB962C8B-B14F-4D97-AF65-F5344CB8AC3E}">
        <p14:creationId xmlns:p14="http://schemas.microsoft.com/office/powerpoint/2010/main" val="138346151"/>
      </p:ext>
    </p:extLst>
  </p:cSld>
</p:sld>
</file>

<file path=ppt/slides/slide10.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EB21EA92-4E63-452E-BBEA-C4290A4F68B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AI, 코드, 담당자의 역할</a:t>
            </a:r>
          </a:p>
        </p:txBody>
      </p:sp>
      <p:sp>
        <p:nvSpPr>
          <p:cNvPr id="2" name="page">
            <a:extLst xmlns:a="http://schemas.openxmlformats.org/drawingml/2006/main">
              <a:ext uri="{FF2B5EF4-FFF2-40B4-BE49-F238E27FC236}">
                <a16:creationId xmlns:a16="http://schemas.microsoft.com/office/drawing/2014/main" id="{773F56ED-3ACF-4FBB-B495-15078C9F7756}"/>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10</a:t>
            </a:r>
          </a:p>
        </p:txBody>
      </p:sp>
      <p:sp>
        <p:nvSpPr>
          <p:cNvPr id="3" name="ai-title">
            <a:extLst xmlns:a="http://schemas.openxmlformats.org/drawingml/2006/main">
              <a:ext uri="{FF2B5EF4-FFF2-40B4-BE49-F238E27FC236}">
                <a16:creationId xmlns:a16="http://schemas.microsoft.com/office/drawing/2014/main" id="{52689071-0923-418E-9364-51B1E762829A}"/>
              </a:ext>
            </a:extLst>
          </p:cNvPr>
          <p:cNvSpPr>
            <a:spLocks xmlns:a="http://schemas.openxmlformats.org/drawingml/2006/main" noGrp="1"/>
          </p:cNvSpPr>
          <p:nvPr/>
        </p:nvSpPr>
        <p:spPr>
          <a:xfrm xmlns:a="http://schemas.openxmlformats.org/drawingml/2006/main">
            <a:off x="609600" y="1762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AI</a:t>
            </a:r>
          </a:p>
        </p:txBody>
      </p:sp>
      <p:sp>
        <p:nvSpPr>
          <p:cNvPr id="4" name="ai-body">
            <a:extLst xmlns:a="http://schemas.openxmlformats.org/drawingml/2006/main">
              <a:ext uri="{FF2B5EF4-FFF2-40B4-BE49-F238E27FC236}">
                <a16:creationId xmlns:a16="http://schemas.microsoft.com/office/drawing/2014/main" id="{B469ED4C-613C-4D91-BD85-8030AB30FF0A}"/>
              </a:ext>
            </a:extLst>
          </p:cNvPr>
          <p:cNvSpPr>
            <a:spLocks xmlns:a="http://schemas.openxmlformats.org/drawingml/2006/main" noGrp="1"/>
          </p:cNvSpPr>
          <p:nvPr/>
        </p:nvSpPr>
        <p:spPr>
          <a:xfrm xmlns:a="http://schemas.openxmlformats.org/drawingml/2006/main">
            <a:off x="609600" y="2619375"/>
            <a:ext cx="31432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검색 계획 작성</a:t>
            </a:r>
          </a:p>
          <a:p xmlns:a="http://schemas.openxmlformats.org/drawingml/2006/main">
            <a:r>
              <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원문에서 값과 단위 제안</a:t>
            </a:r>
          </a:p>
        </p:txBody>
      </p:sp>
      <p:sp>
        <p:nvSpPr>
          <p:cNvPr id="5" name="code-title">
            <a:extLst xmlns:a="http://schemas.openxmlformats.org/drawingml/2006/main">
              <a:ext uri="{FF2B5EF4-FFF2-40B4-BE49-F238E27FC236}">
                <a16:creationId xmlns:a16="http://schemas.microsoft.com/office/drawing/2014/main" id="{3B592713-E696-4C54-9D22-AC8FB2F976E8}"/>
              </a:ext>
            </a:extLst>
          </p:cNvPr>
          <p:cNvSpPr>
            <a:spLocks xmlns:a="http://schemas.openxmlformats.org/drawingml/2006/main" noGrp="1"/>
          </p:cNvSpPr>
          <p:nvPr/>
        </p:nvSpPr>
        <p:spPr>
          <a:xfrm xmlns:a="http://schemas.openxmlformats.org/drawingml/2006/main">
            <a:off x="4429125" y="17621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코드</a:t>
            </a:r>
          </a:p>
        </p:txBody>
      </p:sp>
      <p:sp>
        <p:nvSpPr>
          <p:cNvPr id="6" name="code-body">
            <a:extLst xmlns:a="http://schemas.openxmlformats.org/drawingml/2006/main">
              <a:ext uri="{FF2B5EF4-FFF2-40B4-BE49-F238E27FC236}">
                <a16:creationId xmlns:a16="http://schemas.microsoft.com/office/drawing/2014/main" id="{13AE5AD9-8A86-4EBE-A93A-6A6F72FE103A}"/>
              </a:ext>
            </a:extLst>
          </p:cNvPr>
          <p:cNvSpPr>
            <a:spLocks xmlns:a="http://schemas.openxmlformats.org/drawingml/2006/main" noGrp="1"/>
          </p:cNvSpPr>
          <p:nvPr/>
        </p:nvSpPr>
        <p:spPr>
          <a:xfrm xmlns:a="http://schemas.openxmlformats.org/drawingml/2006/main">
            <a:off x="4429125" y="2619375"/>
            <a:ext cx="328612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buNone/>
              <a:defRPr sz="2100" b="0">
                <a:solidFill>
                  <a:srgbClr val="173C46"/>
                </a:solidFill>
                <a:latin typeface="Arial Unicode MS"/>
                <a:ea typeface="Arial Unicode MS"/>
                <a:cs typeface="Arial Unicode MS"/>
              </a:defRPr>
            </a:lvl1pPr>
            <a:lvl2pPr>
              <a:buNone/>
              <a:defRPr sz="2100" b="0">
                <a:solidFill>
                  <a:srgbClr val="173C46"/>
                </a:solidFill>
                <a:latin typeface="Arial Unicode MS"/>
                <a:ea typeface="Arial Unicode MS"/>
                <a:cs typeface="Arial Unicode MS"/>
              </a:defRPr>
            </a:lvl2pPr>
            <a:lvl3pPr>
              <a:buNone/>
              <a:defRPr sz="2100" b="0">
                <a:solidFill>
                  <a:srgbClr val="173C46"/>
                </a:solidFill>
                <a:latin typeface="Arial Unicode MS"/>
                <a:ea typeface="Arial Unicode MS"/>
                <a:cs typeface="Arial Unicode MS"/>
              </a:defRPr>
            </a:lvl3pPr>
            <a:lvl4pPr>
              <a:buNone/>
              <a:defRPr sz="2100" b="0">
                <a:solidFill>
                  <a:srgbClr val="173C46"/>
                </a:solidFill>
                <a:latin typeface="Arial Unicode MS"/>
                <a:ea typeface="Arial Unicode MS"/>
                <a:cs typeface="Arial Unicode MS"/>
              </a:defRPr>
            </a:lvl4pPr>
            <a:lvl5pPr>
              <a:buNone/>
              <a:defRPr sz="2100" b="0">
                <a:solidFill>
                  <a:srgbClr val="173C46"/>
                </a:solidFill>
                <a:latin typeface="Arial Unicode MS"/>
                <a:ea typeface="Arial Unicode MS"/>
                <a:cs typeface="Arial Unicode MS"/>
              </a:defRPr>
            </a:lvl5pPr>
            <a:lvl6pPr>
              <a:buNone/>
              <a:defRPr sz="2100" b="0">
                <a:solidFill>
                  <a:srgbClr val="173C46"/>
                </a:solidFill>
                <a:latin typeface="Arial Unicode MS"/>
                <a:ea typeface="Arial Unicode MS"/>
                <a:cs typeface="Arial Unicode MS"/>
              </a:defRPr>
            </a:lvl6pPr>
            <a:lvl7pPr>
              <a:buNone/>
              <a:defRPr sz="2100" b="0">
                <a:solidFill>
                  <a:srgbClr val="173C46"/>
                </a:solidFill>
                <a:latin typeface="Arial Unicode MS"/>
                <a:ea typeface="Arial Unicode MS"/>
                <a:cs typeface="Arial Unicode MS"/>
              </a:defRPr>
            </a:lvl7pPr>
            <a:lvl8pPr>
              <a:buNone/>
              <a:defRPr sz="2100" b="0">
                <a:solidFill>
                  <a:srgbClr val="173C46"/>
                </a:solidFill>
                <a:latin typeface="Arial Unicode MS"/>
                <a:ea typeface="Arial Unicode MS"/>
                <a:cs typeface="Arial Unicode MS"/>
              </a:defRPr>
            </a:lvl8pPr>
            <a:lvl9pPr>
              <a:buNone/>
              <a:defRPr sz="2100" b="0">
                <a:solidFill>
                  <a:srgbClr val="173C46"/>
                </a:solidFill>
                <a:latin typeface="Arial Unicode MS"/>
                <a:ea typeface="Arial Unicode MS"/>
                <a:cs typeface="Arial Unicode MS"/>
              </a:defRPr>
            </a:lvl9pPr>
          </a:lstStyle>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근거 검색과 인용 대조</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단위와 변경 관계 처리</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항목별 상태 비교</a:t>
            </a:r>
          </a:p>
        </p:txBody>
      </p:sp>
      <p:sp>
        <p:nvSpPr>
          <p:cNvPr id="7" name="human-title">
            <a:extLst xmlns:a="http://schemas.openxmlformats.org/drawingml/2006/main">
              <a:ext uri="{FF2B5EF4-FFF2-40B4-BE49-F238E27FC236}">
                <a16:creationId xmlns:a16="http://schemas.microsoft.com/office/drawing/2014/main" id="{6A224BD6-7A09-46D5-8378-CCB1EB75F487}"/>
              </a:ext>
            </a:extLst>
          </p:cNvPr>
          <p:cNvSpPr>
            <a:spLocks xmlns:a="http://schemas.openxmlformats.org/drawingml/2006/main" noGrp="1"/>
          </p:cNvSpPr>
          <p:nvPr/>
        </p:nvSpPr>
        <p:spPr>
          <a:xfrm xmlns:a="http://schemas.openxmlformats.org/drawingml/2006/main">
            <a:off x="8572500" y="1762125"/>
            <a:ext cx="3000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담당자</a:t>
            </a:r>
          </a:p>
        </p:txBody>
      </p:sp>
      <p:sp>
        <p:nvSpPr>
          <p:cNvPr id="8" name="human-body">
            <a:extLst xmlns:a="http://schemas.openxmlformats.org/drawingml/2006/main">
              <a:ext uri="{FF2B5EF4-FFF2-40B4-BE49-F238E27FC236}">
                <a16:creationId xmlns:a16="http://schemas.microsoft.com/office/drawing/2014/main" id="{5D8304C3-1C67-410C-958C-79336126BBDF}"/>
              </a:ext>
            </a:extLst>
          </p:cNvPr>
          <p:cNvSpPr>
            <a:spLocks xmlns:a="http://schemas.openxmlformats.org/drawingml/2006/main" noGrp="1"/>
          </p:cNvSpPr>
          <p:nvPr/>
        </p:nvSpPr>
        <p:spPr>
          <a:xfrm xmlns:a="http://schemas.openxmlformats.org/drawingml/2006/main">
            <a:off x="8572500" y="2619375"/>
            <a:ext cx="300037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buNone/>
              <a:defRPr sz="2100" b="0">
                <a:solidFill>
                  <a:srgbClr val="173C46"/>
                </a:solidFill>
                <a:latin typeface="Arial Unicode MS"/>
                <a:ea typeface="Arial Unicode MS"/>
                <a:cs typeface="Arial Unicode MS"/>
              </a:defRPr>
            </a:lvl1pPr>
            <a:lvl2pPr>
              <a:buNone/>
              <a:defRPr sz="2100" b="0">
                <a:solidFill>
                  <a:srgbClr val="173C46"/>
                </a:solidFill>
                <a:latin typeface="Arial Unicode MS"/>
                <a:ea typeface="Arial Unicode MS"/>
                <a:cs typeface="Arial Unicode MS"/>
              </a:defRPr>
            </a:lvl2pPr>
            <a:lvl3pPr>
              <a:buNone/>
              <a:defRPr sz="2100" b="0">
                <a:solidFill>
                  <a:srgbClr val="173C46"/>
                </a:solidFill>
                <a:latin typeface="Arial Unicode MS"/>
                <a:ea typeface="Arial Unicode MS"/>
                <a:cs typeface="Arial Unicode MS"/>
              </a:defRPr>
            </a:lvl3pPr>
            <a:lvl4pPr>
              <a:buNone/>
              <a:defRPr sz="2100" b="0">
                <a:solidFill>
                  <a:srgbClr val="173C46"/>
                </a:solidFill>
                <a:latin typeface="Arial Unicode MS"/>
                <a:ea typeface="Arial Unicode MS"/>
                <a:cs typeface="Arial Unicode MS"/>
              </a:defRPr>
            </a:lvl4pPr>
            <a:lvl5pPr>
              <a:buNone/>
              <a:defRPr sz="2100" b="0">
                <a:solidFill>
                  <a:srgbClr val="173C46"/>
                </a:solidFill>
                <a:latin typeface="Arial Unicode MS"/>
                <a:ea typeface="Arial Unicode MS"/>
                <a:cs typeface="Arial Unicode MS"/>
              </a:defRPr>
            </a:lvl5pPr>
            <a:lvl6pPr>
              <a:buNone/>
              <a:defRPr sz="2100" b="0">
                <a:solidFill>
                  <a:srgbClr val="173C46"/>
                </a:solidFill>
                <a:latin typeface="Arial Unicode MS"/>
                <a:ea typeface="Arial Unicode MS"/>
                <a:cs typeface="Arial Unicode MS"/>
              </a:defRPr>
            </a:lvl6pPr>
            <a:lvl7pPr>
              <a:buNone/>
              <a:defRPr sz="2100" b="0">
                <a:solidFill>
                  <a:srgbClr val="173C46"/>
                </a:solidFill>
                <a:latin typeface="Arial Unicode MS"/>
                <a:ea typeface="Arial Unicode MS"/>
                <a:cs typeface="Arial Unicode MS"/>
              </a:defRPr>
            </a:lvl7pPr>
            <a:lvl8pPr>
              <a:buNone/>
              <a:defRPr sz="2100" b="0">
                <a:solidFill>
                  <a:srgbClr val="173C46"/>
                </a:solidFill>
                <a:latin typeface="Arial Unicode MS"/>
                <a:ea typeface="Arial Unicode MS"/>
                <a:cs typeface="Arial Unicode MS"/>
              </a:defRPr>
            </a:lvl8pPr>
            <a:lvl9pPr>
              <a:buNone/>
              <a:defRPr sz="2100" b="0">
                <a:solidFill>
                  <a:srgbClr val="173C46"/>
                </a:solidFill>
                <a:latin typeface="Arial Unicode MS"/>
                <a:ea typeface="Arial Unicode MS"/>
                <a:cs typeface="Arial Unicode MS"/>
              </a:defRPr>
            </a:lvl9pPr>
          </a:lstStyle>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적용할 변경 기준 확인</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양쪽 원문 검토</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결과 보관과 최종 판단</a:t>
            </a:r>
          </a:p>
        </p:txBody>
      </p:sp>
      <p:sp>
        <p:nvSpPr>
          <p:cNvPr id="9" name="boundary">
            <a:extLst xmlns:a="http://schemas.openxmlformats.org/drawingml/2006/main">
              <a:ext uri="{FF2B5EF4-FFF2-40B4-BE49-F238E27FC236}">
                <a16:creationId xmlns:a16="http://schemas.microsoft.com/office/drawing/2014/main" id="{FA38DE33-61A6-4D7F-A33C-787FF9659BCC}"/>
              </a:ext>
            </a:extLst>
          </p:cNvPr>
          <p:cNvSpPr>
            <a:spLocks xmlns:a="http://schemas.openxmlformats.org/drawingml/2006/main" noGrp="1"/>
          </p:cNvSpPr>
          <p:nvPr/>
        </p:nvSpPr>
        <p:spPr>
          <a:xfrm xmlns:a="http://schemas.openxmlformats.org/drawingml/2006/main">
            <a:off x="609600" y="5886450"/>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추출 한 번당 최대 2회 호출입니다. 설계 승인과 제품 안전 판정은 수행하지 않습니다.</a:t>
            </a:r>
          </a:p>
        </p:txBody>
      </p:sp>
    </p:spTree>
    <p:extLst>
      <p:ext uri="{BB962C8B-B14F-4D97-AF65-F5344CB8AC3E}">
        <p14:creationId xmlns:p14="http://schemas.microsoft.com/office/powerpoint/2010/main" val="1143444777"/>
      </p:ext>
    </p:extLst>
  </p:cSld>
</p:sld>
</file>

<file path=ppt/slides/slide11.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31CD0EE-9861-41A3-8792-0E640BAD5CB7}"/>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기술 선택과 구현 근거</a:t>
            </a:r>
          </a:p>
        </p:txBody>
      </p:sp>
      <p:sp>
        <p:nvSpPr>
          <p:cNvPr id="2" name="page">
            <a:extLst xmlns:a="http://schemas.openxmlformats.org/drawingml/2006/main">
              <a:ext uri="{FF2B5EF4-FFF2-40B4-BE49-F238E27FC236}">
                <a16:creationId xmlns:a16="http://schemas.microsoft.com/office/drawing/2014/main" id="{A2EBC089-82F3-4332-B71A-83CC33EA9E01}"/>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11</a:t>
            </a:r>
          </a:p>
        </p:txBody>
      </p:sp>
      <p:graphicFrame>
        <p:nvGraphicFramePr>
          <p:cNvPr id="3" name="">
            <a:extLst xmlns:a="http://schemas.openxmlformats.org/drawingml/2006/main">
              <a:ext uri="{FF2B5EF4-FFF2-40B4-BE49-F238E27FC236}">
                <a16:creationId xmlns:a16="http://schemas.microsoft.com/office/drawing/2014/main" id="{11F69E9E-F9CA-4075-B281-8A3C49FCA940}"/>
              </a:ext>
            </a:extLst>
          </p:cNvPr>
          <p:cNvGraphicFramePr/>
          <p:nvPr/>
        </p:nvGraphicFramePr>
        <p:xfrm>
          <a:off xmlns:a="http://schemas.openxmlformats.org/drawingml/2006/main" x="609600" y="1638300"/>
          <a:ext xmlns:a="http://schemas.openxmlformats.org/drawingml/2006/main" cx="10972800" cy="3848100"/>
        </p:xfrm>
        <a:graphic xmlns:a="http://schemas.openxmlformats.org/drawingml/2006/main">
          <a:graphicData uri="http://schemas.openxmlformats.org/drawingml/2006/table">
            <a:tbl>
              <a:tblPr/>
              <a:tblGrid>
                <a:gridCol w="3143250"/>
                <a:gridCol w="7829550"/>
              </a:tblGrid>
              <a:tr h="769620">
                <a:tc>
                  <a:txBody>
                    <a:bodyPr/>
                    <a:lstStyle/>
                    <a:p>
                      <a:r>
                        <a:rPr sz="1875" b="1">
                          <a:solidFill>
                            <a:srgbClr val="FFFFFF"/>
                          </a:solidFill>
                          <a:latin typeface="Arial Unicode MS"/>
                          <a:ea typeface="Arial Unicode MS"/>
                          <a:cs typeface="Arial Unicode MS"/>
                        </a:rPr>
                        <a:t>기술 요소</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이 프로젝트의 적용 방식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69620">
                <a:tc>
                  <a:txBody>
                    <a:bodyPr/>
                    <a:lstStyle/>
                    <a:p>
                      <a:r>
                        <a:rPr sz="1875" b="0">
                          <a:solidFill>
                            <a:srgbClr val="173C46"/>
                          </a:solidFill>
                          <a:latin typeface="Arial Unicode MS"/>
                          <a:ea typeface="Arial Unicode MS"/>
                          <a:cs typeface="Arial Unicode MS"/>
                        </a:rPr>
                        <a:t>키워드 기반 RAG</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찾은 원문 구간을 AI 추출 입력으로 전달</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구조화 출력과 검증</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JSON 형식, 인용문, 값과 단위, 충돌 검사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69620">
                <a:tc>
                  <a:txBody>
                    <a:bodyPr/>
                    <a:lstStyle/>
                    <a:p>
                      <a:r>
                        <a:rPr sz="1875" b="0">
                          <a:solidFill>
                            <a:srgbClr val="173C46"/>
                          </a:solidFill>
                          <a:latin typeface="Arial Unicode MS"/>
                          <a:ea typeface="Arial Unicode MS"/>
                          <a:cs typeface="Arial Unicode MS"/>
                        </a:rPr>
                        <a:t>의존성 주입</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모델 요청 함수를 바꿔 실패와 경계 조건 시험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모듈화와 테스트</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문서 처리, 추출, 비교, API, 보고서를 분리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bl>
          </a:graphicData>
        </a:graphic>
      </p:graphicFrame>
      <p:sp>
        <p:nvSpPr>
          <p:cNvPr id="4" name="not-implemented">
            <a:extLst xmlns:a="http://schemas.openxmlformats.org/drawingml/2006/main">
              <a:ext uri="{FF2B5EF4-FFF2-40B4-BE49-F238E27FC236}">
                <a16:creationId xmlns:a16="http://schemas.microsoft.com/office/drawing/2014/main" id="{78090A23-D9D0-41FD-9548-8638320F2CFA}"/>
              </a:ext>
            </a:extLst>
          </p:cNvPr>
          <p:cNvSpPr>
            <a:spLocks xmlns:a="http://schemas.openxmlformats.org/drawingml/2006/main" noGrp="1"/>
          </p:cNvSpPr>
          <p:nvPr/>
        </p:nvSpPr>
        <p:spPr>
          <a:xfrm xmlns:a="http://schemas.openxmlformats.org/drawingml/2006/main">
            <a:off x="609600" y="588645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Multi-Agent · MCP · LangGraph · LangSmith · 벡터 검색은 구현하지 않았습니다.</a:t>
            </a:r>
          </a:p>
        </p:txBody>
      </p:sp>
    </p:spTree>
    <p:extLst>
      <p:ext uri="{BB962C8B-B14F-4D97-AF65-F5344CB8AC3E}">
        <p14:creationId xmlns:p14="http://schemas.microsoft.com/office/powerpoint/2010/main" val="1430202683"/>
      </p:ext>
    </p:extLst>
  </p:cSld>
</p:sld>
</file>

<file path=ppt/slides/slide1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ED25EC5-2436-4CA8-99D6-5ACA10A589F5}"/>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확인한 동작과 검증 범위</a:t>
            </a:r>
          </a:p>
        </p:txBody>
      </p:sp>
      <p:sp>
        <p:nvSpPr>
          <p:cNvPr id="2" name="page">
            <a:extLst xmlns:a="http://schemas.openxmlformats.org/drawingml/2006/main">
              <a:ext uri="{FF2B5EF4-FFF2-40B4-BE49-F238E27FC236}">
                <a16:creationId xmlns:a16="http://schemas.microsoft.com/office/drawing/2014/main" id="{3086E229-C0A2-4C73-9D36-AC0A5133FA1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12</a:t>
            </a:r>
          </a:p>
        </p:txBody>
      </p:sp>
      <p:graphicFrame>
        <p:nvGraphicFramePr>
          <p:cNvPr id="3" name="">
            <a:extLst xmlns:a="http://schemas.openxmlformats.org/drawingml/2006/main">
              <a:ext uri="{FF2B5EF4-FFF2-40B4-BE49-F238E27FC236}">
                <a16:creationId xmlns:a16="http://schemas.microsoft.com/office/drawing/2014/main" id="{C84E2823-35FE-445B-9191-51042F233CC0}"/>
              </a:ext>
            </a:extLst>
          </p:cNvPr>
          <p:cNvGraphicFramePr/>
          <p:nvPr/>
        </p:nvGraphicFramePr>
        <p:xfrm>
          <a:off xmlns:a="http://schemas.openxmlformats.org/drawingml/2006/main" x="609600" y="1657350"/>
          <a:ext xmlns:a="http://schemas.openxmlformats.org/drawingml/2006/main" cx="10972800" cy="2667000"/>
        </p:xfrm>
        <a:graphic xmlns:a="http://schemas.openxmlformats.org/drawingml/2006/main">
          <a:graphicData uri="http://schemas.openxmlformats.org/drawingml/2006/table">
            <a:tbl>
              <a:tblPr/>
              <a:tblGrid>
                <a:gridCol w="1238250"/>
                <a:gridCol w="5334000"/>
                <a:gridCol w="1466850"/>
                <a:gridCol w="1466850"/>
                <a:gridCol w="1466850"/>
              </a:tblGrid>
              <a:tr h="666750">
                <a:tc>
                  <a:txBody>
                    <a:bodyPr/>
                    <a:lstStyle/>
                    <a:p>
                      <a:r>
                        <a:rPr sz="1875" b="1">
                          <a:solidFill>
                            <a:srgbClr val="FFFFFF"/>
                          </a:solidFill>
                          <a:latin typeface="Arial Unicode MS"/>
                          <a:ea typeface="Arial Unicode MS"/>
                          <a:cs typeface="Arial Unicode MS"/>
                        </a:rPr>
                        <a:t>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검토 초점</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불일치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보류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666750">
                <a:tc>
                  <a:txBody>
                    <a:bodyPr/>
                    <a:lstStyle/>
                    <a:p>
                      <a:r>
                        <a:rPr sz="1875" b="0">
                          <a:solidFill>
                            <a:srgbClr val="173C46"/>
                          </a:solidFill>
                          <a:latin typeface="Arial Unicode MS"/>
                          <a:ea typeface="Arial Unicode MS"/>
                          <a:cs typeface="Arial Unicode MS"/>
                        </a:rPr>
                        <a:t>V01</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팬 전원 변경 미반영</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666750">
                <a:tc>
                  <a:txBody>
                    <a:bodyPr/>
                    <a:lstStyle/>
                    <a:p>
                      <a:r>
                        <a:rPr sz="1875" b="0">
                          <a:solidFill>
                            <a:srgbClr val="173C46"/>
                          </a:solidFill>
                          <a:latin typeface="Arial Unicode MS"/>
                          <a:ea typeface="Arial Unicode MS"/>
                          <a:cs typeface="Arial Unicode MS"/>
                        </a:rPr>
                        <a:t>V02</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주파수 미기재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666750">
                <a:tc>
                  <a:txBody>
                    <a:bodyPr/>
                    <a:lstStyle/>
                    <a:p>
                      <a:r>
                        <a:rPr sz="1875" b="0">
                          <a:solidFill>
                            <a:srgbClr val="173C46"/>
                          </a:solidFill>
                          <a:latin typeface="Arial Unicode MS"/>
                          <a:ea typeface="Arial Unicode MS"/>
                          <a:cs typeface="Arial Unicode MS"/>
                        </a:rPr>
                        <a:t>V03</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탭절환기와 설치 구분</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8</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2</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tests">
            <a:extLst xmlns:a="http://schemas.openxmlformats.org/drawingml/2006/main">
              <a:ext uri="{FF2B5EF4-FFF2-40B4-BE49-F238E27FC236}">
                <a16:creationId xmlns:a16="http://schemas.microsoft.com/office/drawing/2014/main" id="{C0D4DF2A-AB38-4748-9B23-8FEBF5369A12}"/>
              </a:ext>
            </a:extLst>
          </p:cNvPr>
          <p:cNvSpPr>
            <a:spLocks xmlns:a="http://schemas.openxmlformats.org/drawingml/2006/main" noGrp="1"/>
          </p:cNvSpPr>
          <p:nvPr/>
        </p:nvSpPr>
        <p:spPr>
          <a:xfrm xmlns:a="http://schemas.openxmlformats.org/drawingml/2006/main">
            <a:off x="609600" y="47625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buNone/>
              <a:defRPr sz="2325" b="1">
                <a:solidFill>
                  <a:srgbClr val="15796D"/>
                </a:solidFill>
                <a:latin typeface="Arial Unicode MS"/>
                <a:ea typeface="Arial Unicode MS"/>
                <a:cs typeface="Arial Unicode MS"/>
              </a:defRPr>
            </a:lvl1pPr>
            <a:lvl2pPr>
              <a:buNone/>
              <a:defRPr sz="2325" b="1">
                <a:solidFill>
                  <a:srgbClr val="15796D"/>
                </a:solidFill>
                <a:latin typeface="Arial Unicode MS"/>
                <a:ea typeface="Arial Unicode MS"/>
                <a:cs typeface="Arial Unicode MS"/>
              </a:defRPr>
            </a:lvl2pPr>
            <a:lvl3pPr>
              <a:buNone/>
              <a:defRPr sz="2325" b="1">
                <a:solidFill>
                  <a:srgbClr val="15796D"/>
                </a:solidFill>
                <a:latin typeface="Arial Unicode MS"/>
                <a:ea typeface="Arial Unicode MS"/>
                <a:cs typeface="Arial Unicode MS"/>
              </a:defRPr>
            </a:lvl3pPr>
            <a:lvl4pPr>
              <a:buNone/>
              <a:defRPr sz="2325" b="1">
                <a:solidFill>
                  <a:srgbClr val="15796D"/>
                </a:solidFill>
                <a:latin typeface="Arial Unicode MS"/>
                <a:ea typeface="Arial Unicode MS"/>
                <a:cs typeface="Arial Unicode MS"/>
              </a:defRPr>
            </a:lvl4pPr>
            <a:lvl5pPr>
              <a:buNone/>
              <a:defRPr sz="2325" b="1">
                <a:solidFill>
                  <a:srgbClr val="15796D"/>
                </a:solidFill>
                <a:latin typeface="Arial Unicode MS"/>
                <a:ea typeface="Arial Unicode MS"/>
                <a:cs typeface="Arial Unicode MS"/>
              </a:defRPr>
            </a:lvl5pPr>
            <a:lvl6pPr>
              <a:buNone/>
              <a:defRPr sz="2325" b="1">
                <a:solidFill>
                  <a:srgbClr val="15796D"/>
                </a:solidFill>
                <a:latin typeface="Arial Unicode MS"/>
                <a:ea typeface="Arial Unicode MS"/>
                <a:cs typeface="Arial Unicode MS"/>
              </a:defRPr>
            </a:lvl6pPr>
            <a:lvl7pPr>
              <a:buNone/>
              <a:defRPr sz="2325" b="1">
                <a:solidFill>
                  <a:srgbClr val="15796D"/>
                </a:solidFill>
                <a:latin typeface="Arial Unicode MS"/>
                <a:ea typeface="Arial Unicode MS"/>
                <a:cs typeface="Arial Unicode MS"/>
              </a:defRPr>
            </a:lvl7pPr>
            <a:lvl8pPr>
              <a:buNone/>
              <a:defRPr sz="2325" b="1">
                <a:solidFill>
                  <a:srgbClr val="15796D"/>
                </a:solidFill>
                <a:latin typeface="Arial Unicode MS"/>
                <a:ea typeface="Arial Unicode MS"/>
                <a:cs typeface="Arial Unicode MS"/>
              </a:defRPr>
            </a:lvl8pPr>
            <a:lvl9pPr>
              <a:buNone/>
              <a:defRPr sz="2325" b="1">
                <a:solidFill>
                  <a:srgbClr val="15796D"/>
                </a:solidFill>
                <a:latin typeface="Arial Unicode MS"/>
                <a:ea typeface="Arial Unicode MS"/>
                <a:cs typeface="Arial Unicode MS"/>
              </a:defRPr>
            </a:lvl9pPr>
          </a:lstStyle>
          <a:p xmlns:a="http://schemas.openxmlformats.org/drawingml/2006/main">
            <a:pPr>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자동 검사 </a:t>
            </a:r>
            <a:r>
              <a:rPr sz="2325" b="1">
                <a:solidFill>
                  <a:srgbClr val="15796D"/>
                </a:solidFill>
                <a:latin typeface="Arial Unicode MS"/>
                <a:ea typeface="Arial Unicode MS"/>
                <a:cs typeface="Arial Unicode MS"/>
              </a:rPr>
              <a:t>385</a:t>
            </a:r>
            <a:r>
              <a:rPr sz="2325" b="1">
                <a:solidFill>
                  <a:srgbClr val="15796D"/>
                </a:solidFill>
                <a:latin typeface="Arial Unicode MS"/>
                <a:ea typeface="Arial Unicode MS"/>
                <a:cs typeface="Arial Unicode MS"/>
              </a:rPr>
              <a:t>개 통과     화면 모의 검사 </a:t>
            </a:r>
            <a:r>
              <a:rPr sz="2325" b="1">
                <a:solidFill>
                  <a:srgbClr val="15796D"/>
                </a:solidFill>
                <a:latin typeface="Arial Unicode MS"/>
                <a:ea typeface="Arial Unicode MS"/>
                <a:cs typeface="Arial Unicode MS"/>
              </a:rPr>
              <a:t>65</a:t>
            </a:r>
            <a:r>
              <a:rPr sz="2325" b="1">
                <a:solidFill>
                  <a:srgbClr val="15796D"/>
                </a:solidFill>
                <a:latin typeface="Arial Unicode MS"/>
                <a:ea typeface="Arial Unicode MS"/>
                <a:cs typeface="Arial Unicode MS"/>
              </a:rPr>
              <a:t>개 통과</a:t>
            </a:r>
          </a:p>
        </p:txBody>
      </p:sp>
      <p:sp>
        <p:nvSpPr>
          <p:cNvPr id="5" name="limit">
            <a:extLst xmlns:a="http://schemas.openxmlformats.org/drawingml/2006/main">
              <a:ext uri="{FF2B5EF4-FFF2-40B4-BE49-F238E27FC236}">
                <a16:creationId xmlns:a16="http://schemas.microsoft.com/office/drawing/2014/main" id="{3C6E4109-EA47-47A5-8D1E-D3CB45664D90}"/>
              </a:ext>
            </a:extLst>
          </p:cNvPr>
          <p:cNvSpPr>
            <a:spLocks xmlns:a="http://schemas.openxmlformats.org/drawingml/2006/main" noGrp="1"/>
          </p:cNvSpPr>
          <p:nvPr/>
        </p:nvSpPr>
        <p:spPr>
          <a:xfrm xmlns:a="http://schemas.openxmlformats.org/drawingml/2006/main">
            <a:off x="609600" y="563880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725" b="0">
                <a:solidFill>
                  <a:srgbClr val="53676D"/>
                </a:solidFill>
                <a:latin typeface="Arial Unicode MS"/>
                <a:ea typeface="Arial Unicode MS"/>
                <a:cs typeface="Arial Unicode MS"/>
              </a:defRPr>
            </a:lvl1pPr>
            <a:lvl2pPr>
              <a:buNone/>
              <a:defRPr sz="1725" b="0">
                <a:solidFill>
                  <a:srgbClr val="53676D"/>
                </a:solidFill>
                <a:latin typeface="Arial Unicode MS"/>
                <a:ea typeface="Arial Unicode MS"/>
                <a:cs typeface="Arial Unicode MS"/>
              </a:defRPr>
            </a:lvl2pPr>
            <a:lvl3pPr>
              <a:buNone/>
              <a:defRPr sz="1725" b="0">
                <a:solidFill>
                  <a:srgbClr val="53676D"/>
                </a:solidFill>
                <a:latin typeface="Arial Unicode MS"/>
                <a:ea typeface="Arial Unicode MS"/>
                <a:cs typeface="Arial Unicode MS"/>
              </a:defRPr>
            </a:lvl3pPr>
            <a:lvl4pPr>
              <a:buNone/>
              <a:defRPr sz="1725" b="0">
                <a:solidFill>
                  <a:srgbClr val="53676D"/>
                </a:solidFill>
                <a:latin typeface="Arial Unicode MS"/>
                <a:ea typeface="Arial Unicode MS"/>
                <a:cs typeface="Arial Unicode MS"/>
              </a:defRPr>
            </a:lvl4pPr>
            <a:lvl5pPr>
              <a:buNone/>
              <a:defRPr sz="1725" b="0">
                <a:solidFill>
                  <a:srgbClr val="53676D"/>
                </a:solidFill>
                <a:latin typeface="Arial Unicode MS"/>
                <a:ea typeface="Arial Unicode MS"/>
                <a:cs typeface="Arial Unicode MS"/>
              </a:defRPr>
            </a:lvl5pPr>
            <a:lvl6pPr>
              <a:buNone/>
              <a:defRPr sz="1725" b="0">
                <a:solidFill>
                  <a:srgbClr val="53676D"/>
                </a:solidFill>
                <a:latin typeface="Arial Unicode MS"/>
                <a:ea typeface="Arial Unicode MS"/>
                <a:cs typeface="Arial Unicode MS"/>
              </a:defRPr>
            </a:lvl6pPr>
            <a:lvl7pPr>
              <a:buNone/>
              <a:defRPr sz="1725" b="0">
                <a:solidFill>
                  <a:srgbClr val="53676D"/>
                </a:solidFill>
                <a:latin typeface="Arial Unicode MS"/>
                <a:ea typeface="Arial Unicode MS"/>
                <a:cs typeface="Arial Unicode MS"/>
              </a:defRPr>
            </a:lvl7pPr>
            <a:lvl8pPr>
              <a:buNone/>
              <a:defRPr sz="1725" b="0">
                <a:solidFill>
                  <a:srgbClr val="53676D"/>
                </a:solidFill>
                <a:latin typeface="Arial Unicode MS"/>
                <a:ea typeface="Arial Unicode MS"/>
                <a:cs typeface="Arial Unicode MS"/>
              </a:defRPr>
            </a:lvl8pPr>
            <a:lvl9pPr>
              <a:buNone/>
              <a:defRPr sz="172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직접 만든 가상 사례의 동작 확인입니다.</a:t>
            </a:r>
          </a:p>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실제 회사 문서의 정확도와 시간 절감률은 측정하지 않았습니다.</a:t>
            </a:r>
          </a:p>
        </p:txBody>
      </p:sp>
    </p:spTree>
    <p:extLst>
      <p:ext uri="{BB962C8B-B14F-4D97-AF65-F5344CB8AC3E}">
        <p14:creationId xmlns:p14="http://schemas.microsoft.com/office/powerpoint/2010/main" val="401180166"/>
      </p:ext>
    </p:extLst>
  </p:cSld>
</p:sld>
</file>

<file path=ppt/slides/slide1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13501BBF-D022-4565-9622-A1EB949FD38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느낀 점과 향후 개선</a:t>
            </a:r>
          </a:p>
        </p:txBody>
      </p:sp>
      <p:sp>
        <p:nvSpPr>
          <p:cNvPr id="2" name="page">
            <a:extLst xmlns:a="http://schemas.openxmlformats.org/drawingml/2006/main">
              <a:ext uri="{FF2B5EF4-FFF2-40B4-BE49-F238E27FC236}">
                <a16:creationId xmlns:a16="http://schemas.microsoft.com/office/drawing/2014/main" id="{F694F6F6-3876-4292-B201-66F0CD4CBF6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13</a:t>
            </a:r>
          </a:p>
        </p:txBody>
      </p:sp>
      <p:graphicFrame>
        <p:nvGraphicFramePr>
          <p:cNvPr id="3" name="">
            <a:extLst xmlns:a="http://schemas.openxmlformats.org/drawingml/2006/main">
              <a:ext uri="{FF2B5EF4-FFF2-40B4-BE49-F238E27FC236}">
                <a16:creationId xmlns:a16="http://schemas.microsoft.com/office/drawing/2014/main" id="{DC0260B9-001F-4DA0-84D3-9C569FCDDB58}"/>
              </a:ext>
            </a:extLst>
          </p:cNvPr>
          <p:cNvGraphicFramePr/>
          <p:nvPr/>
        </p:nvGraphicFramePr>
        <p:xfrm>
          <a:off xmlns:a="http://schemas.openxmlformats.org/drawingml/2006/main" x="609600" y="1762125"/>
          <a:ext xmlns:a="http://schemas.openxmlformats.org/drawingml/2006/main" cx="10972800" cy="3333750"/>
        </p:xfrm>
        <a:graphic xmlns:a="http://schemas.openxmlformats.org/drawingml/2006/main">
          <a:graphicData uri="http://schemas.openxmlformats.org/drawingml/2006/table">
            <a:tbl>
              <a:tblPr/>
              <a:tblGrid>
                <a:gridCol w="2714625"/>
                <a:gridCol w="4191000"/>
                <a:gridCol w="4067175"/>
              </a:tblGrid>
              <a:tr h="833438">
                <a:tc>
                  <a:txBody>
                    <a:bodyPr/>
                    <a:lstStyle/>
                    <a:p>
                      <a:r>
                        <a:rPr sz="1800" b="1">
                          <a:solidFill>
                            <a:srgbClr val="FFFFFF"/>
                          </a:solidFill>
                          <a:latin typeface="Arial Unicode MS"/>
                          <a:ea typeface="Arial Unicode MS"/>
                          <a:cs typeface="Arial Unicode MS"/>
                        </a:rPr>
                        <a:t>선택</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한계</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다음 검증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833438">
                <a:tc>
                  <a:txBody>
                    <a:bodyPr/>
                    <a:lstStyle/>
                    <a:p>
                      <a:r>
                        <a:rPr sz="1800" b="0">
                          <a:solidFill>
                            <a:srgbClr val="173C46"/>
                          </a:solidFill>
                          <a:latin typeface="Arial Unicode MS"/>
                          <a:ea typeface="Arial Unicode MS"/>
                          <a:cs typeface="Arial Unicode MS"/>
                        </a:rPr>
                        <a:t>형식과 10항목 제한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임의 양식, 스캔, 도면 미지원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새 문서 양식의 독립 평가</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833438">
                <a:tc>
                  <a:txBody>
                    <a:bodyPr/>
                    <a:lstStyle/>
                    <a:p>
                      <a:r>
                        <a:rPr sz="1800" b="0">
                          <a:solidFill>
                            <a:srgbClr val="173C46"/>
                          </a:solidFill>
                          <a:latin typeface="Arial Unicode MS"/>
                          <a:ea typeface="Arial Unicode MS"/>
                          <a:cs typeface="Arial Unicode MS"/>
                        </a:rPr>
                        <a:t>모호한 값은 보류</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담당자의 확인 부담 증가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오판과 불필요한 보류 평가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833438">
                <a:tc>
                  <a:txBody>
                    <a:bodyPr/>
                    <a:lstStyle/>
                    <a:p>
                      <a:r>
                        <a:rPr sz="1800" b="0">
                          <a:solidFill>
                            <a:srgbClr val="173C46"/>
                          </a:solidFill>
                          <a:latin typeface="Arial Unicode MS"/>
                          <a:ea typeface="Arial Unicode MS"/>
                          <a:cs typeface="Arial Unicode MS"/>
                        </a:rPr>
                        <a:t>로컬 모델과 키워드 검색</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표현의 범위와 실행 환경에 영향</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호출·검색 방식별 비교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afety">
            <a:extLst xmlns:a="http://schemas.openxmlformats.org/drawingml/2006/main">
              <a:ext uri="{FF2B5EF4-FFF2-40B4-BE49-F238E27FC236}">
                <a16:creationId xmlns:a16="http://schemas.microsoft.com/office/drawing/2014/main" id="{285F1769-223C-467D-B82A-64BFF8BB8A00}"/>
              </a:ext>
            </a:extLst>
          </p:cNvPr>
          <p:cNvSpPr>
            <a:spLocks xmlns:a="http://schemas.openxmlformats.org/drawingml/2006/main" noGrp="1"/>
          </p:cNvSpPr>
          <p:nvPr/>
        </p:nvSpPr>
        <p:spPr>
          <a:xfrm xmlns:a="http://schemas.openxmlformats.org/drawingml/2006/main">
            <a:off x="609600" y="5686425"/>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875" b="0">
                <a:solidFill>
                  <a:srgbClr val="53676D"/>
                </a:solidFill>
                <a:latin typeface="Arial Unicode MS"/>
                <a:ea typeface="Arial Unicode MS"/>
                <a:cs typeface="Arial Unicode MS"/>
              </a:defRPr>
            </a:lvl1pPr>
            <a:lvl2pPr>
              <a:buNone/>
              <a:defRPr sz="1875" b="0">
                <a:solidFill>
                  <a:srgbClr val="53676D"/>
                </a:solidFill>
                <a:latin typeface="Arial Unicode MS"/>
                <a:ea typeface="Arial Unicode MS"/>
                <a:cs typeface="Arial Unicode MS"/>
              </a:defRPr>
            </a:lvl2pPr>
            <a:lvl3pPr>
              <a:buNone/>
              <a:defRPr sz="1875" b="0">
                <a:solidFill>
                  <a:srgbClr val="53676D"/>
                </a:solidFill>
                <a:latin typeface="Arial Unicode MS"/>
                <a:ea typeface="Arial Unicode MS"/>
                <a:cs typeface="Arial Unicode MS"/>
              </a:defRPr>
            </a:lvl3pPr>
            <a:lvl4pPr>
              <a:buNone/>
              <a:defRPr sz="1875" b="0">
                <a:solidFill>
                  <a:srgbClr val="53676D"/>
                </a:solidFill>
                <a:latin typeface="Arial Unicode MS"/>
                <a:ea typeface="Arial Unicode MS"/>
                <a:cs typeface="Arial Unicode MS"/>
              </a:defRPr>
            </a:lvl4pPr>
            <a:lvl5pPr>
              <a:buNone/>
              <a:defRPr sz="1875" b="0">
                <a:solidFill>
                  <a:srgbClr val="53676D"/>
                </a:solidFill>
                <a:latin typeface="Arial Unicode MS"/>
                <a:ea typeface="Arial Unicode MS"/>
                <a:cs typeface="Arial Unicode MS"/>
              </a:defRPr>
            </a:lvl5pPr>
            <a:lvl6pPr>
              <a:buNone/>
              <a:defRPr sz="1875" b="0">
                <a:solidFill>
                  <a:srgbClr val="53676D"/>
                </a:solidFill>
                <a:latin typeface="Arial Unicode MS"/>
                <a:ea typeface="Arial Unicode MS"/>
                <a:cs typeface="Arial Unicode MS"/>
              </a:defRPr>
            </a:lvl6pPr>
            <a:lvl7pPr>
              <a:buNone/>
              <a:defRPr sz="1875" b="0">
                <a:solidFill>
                  <a:srgbClr val="53676D"/>
                </a:solidFill>
                <a:latin typeface="Arial Unicode MS"/>
                <a:ea typeface="Arial Unicode MS"/>
                <a:cs typeface="Arial Unicode MS"/>
              </a:defRPr>
            </a:lvl7pPr>
            <a:lvl8pPr>
              <a:buNone/>
              <a:defRPr sz="1875" b="0">
                <a:solidFill>
                  <a:srgbClr val="53676D"/>
                </a:solidFill>
                <a:latin typeface="Arial Unicode MS"/>
                <a:ea typeface="Arial Unicode MS"/>
                <a:cs typeface="Arial Unicode MS"/>
              </a:defRPr>
            </a:lvl8pPr>
            <a:lvl9pPr>
              <a:buNone/>
              <a:defRPr sz="187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답을 만드는 것만큼 근거 연결과 불확실성 보류가 중요했습니다.</a:t>
            </a:r>
          </a:p>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현업 적용 전에는 접근 권한·승인 이력·문서 진위·운영 보안 검토가 필요합니다.</a:t>
            </a:r>
          </a:p>
        </p:txBody>
      </p:sp>
    </p:spTree>
    <p:extLst>
      <p:ext uri="{BB962C8B-B14F-4D97-AF65-F5344CB8AC3E}">
        <p14:creationId xmlns:p14="http://schemas.microsoft.com/office/powerpoint/2010/main" val="272330892"/>
      </p:ext>
    </p:extLst>
  </p:cSld>
</p:sld>
</file>

<file path=ppt/slides/slide1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689A319F-880D-4DEF-8044-9116782201AA}"/>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충돌 근거 표시 기록 비교</a:t>
            </a:r>
          </a:p>
        </p:txBody>
      </p:sp>
      <p:sp>
        <p:nvSpPr>
          <p:cNvPr id="2" name="page">
            <a:extLst xmlns:a="http://schemas.openxmlformats.org/drawingml/2006/main">
              <a:ext uri="{FF2B5EF4-FFF2-40B4-BE49-F238E27FC236}">
                <a16:creationId xmlns:a16="http://schemas.microsoft.com/office/drawing/2014/main" id="{8B72E4E2-5BD4-4432-82BB-2492065462D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14</a:t>
            </a:r>
          </a:p>
        </p:txBody>
      </p:sp>
      <p:graphicFrame>
        <p:nvGraphicFramePr>
          <p:cNvPr id="3" name="">
            <a:extLst xmlns:a="http://schemas.openxmlformats.org/drawingml/2006/main">
              <a:ext uri="{FF2B5EF4-FFF2-40B4-BE49-F238E27FC236}">
                <a16:creationId xmlns:a16="http://schemas.microsoft.com/office/drawing/2014/main" id="{A166D1EC-FB69-4F6A-A135-03C9CD8FA81E}"/>
              </a:ext>
            </a:extLst>
          </p:cNvPr>
          <p:cNvGraphicFramePr/>
          <p:nvPr/>
        </p:nvGraphicFramePr>
        <p:xfrm>
          <a:off xmlns:a="http://schemas.openxmlformats.org/drawingml/2006/main" x="609600" y="1695450"/>
          <a:ext xmlns:a="http://schemas.openxmlformats.org/drawingml/2006/main" cx="10972800" cy="2914650"/>
        </p:xfrm>
        <a:graphic xmlns:a="http://schemas.openxmlformats.org/drawingml/2006/main">
          <a:graphicData uri="http://schemas.openxmlformats.org/drawingml/2006/table">
            <a:tbl>
              <a:tblPr/>
              <a:tblGrid>
                <a:gridCol w="4114800"/>
                <a:gridCol w="3429000"/>
                <a:gridCol w="3429000"/>
              </a:tblGrid>
              <a:tr h="728663">
                <a:tc>
                  <a:txBody>
                    <a:bodyPr/>
                    <a:lstStyle/>
                    <a:p>
                      <a:r>
                        <a:rPr sz="1800" b="1">
                          <a:solidFill>
                            <a:srgbClr val="FFFFFF"/>
                          </a:solidFill>
                          <a:latin typeface="Arial Unicode MS"/>
                          <a:ea typeface="Arial Unicode MS"/>
                          <a:cs typeface="Arial Unicode MS"/>
                        </a:rPr>
                        <a:t>고정 F04 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이전 저장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재생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28663">
                <a:tc>
                  <a:txBody>
                    <a:bodyPr/>
                    <a:lstStyle/>
                    <a:p>
                      <a:r>
                        <a:rPr sz="1800" b="0">
                          <a:solidFill>
                            <a:srgbClr val="173C46"/>
                          </a:solidFill>
                          <a:latin typeface="Arial Unicode MS"/>
                          <a:ea typeface="Arial Unicode MS"/>
                          <a:cs typeface="Arial Unicode MS"/>
                        </a:rPr>
                        <a:t>팬 전원 충돌 근거</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 한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V·440 V 두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28663">
                <a:tc>
                  <a:txBody>
                    <a:bodyPr/>
                    <a:lstStyle/>
                    <a:p>
                      <a:r>
                        <a:rPr sz="1800" b="0">
                          <a:solidFill>
                            <a:srgbClr val="173C46"/>
                          </a:solidFill>
                          <a:latin typeface="Arial Unicode MS"/>
                          <a:ea typeface="Arial Unicode MS"/>
                          <a:cs typeface="Arial Unicode MS"/>
                        </a:rPr>
                        <a:t>근거 완전성 표시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true</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false · 확인 필요</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28663">
                <a:tc>
                  <a:txBody>
                    <a:bodyPr/>
                    <a:lstStyle/>
                    <a:p>
                      <a:r>
                        <a:rPr sz="1800" b="0">
                          <a:solidFill>
                            <a:srgbClr val="173C46"/>
                          </a:solidFill>
                          <a:latin typeface="Arial Unicode MS"/>
                          <a:ea typeface="Arial Unicode MS"/>
                          <a:cs typeface="Arial Unicode MS"/>
                        </a:rPr>
                        <a:t>항목 판정과 정규화값</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기준 기록 10항목</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10 / 10 동일</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method">
            <a:extLst xmlns:a="http://schemas.openxmlformats.org/drawingml/2006/main">
              <a:ext uri="{FF2B5EF4-FFF2-40B4-BE49-F238E27FC236}">
                <a16:creationId xmlns:a16="http://schemas.microsoft.com/office/drawing/2014/main" id="{E8B33F65-7CA9-4159-A1DD-A8DFCF26E5BC}"/>
              </a:ext>
            </a:extLst>
          </p:cNvPr>
          <p:cNvSpPr>
            <a:spLocks xmlns:a="http://schemas.openxmlformats.org/drawingml/2006/main" noGrp="1"/>
          </p:cNvSpPr>
          <p:nvPr/>
        </p:nvSpPr>
        <p:spPr>
          <a:xfrm xmlns:a="http://schemas.openxmlformats.org/drawingml/2006/main">
            <a:off x="609600" y="49434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5796D"/>
                </a:solidFill>
                <a:latin typeface="Arial Unicode MS"/>
                <a:ea typeface="Arial Unicode MS"/>
                <a:cs typeface="Arial Unicode MS"/>
              </a:defRPr>
            </a:defPPr>
            <a:lvl1pPr>
              <a:buNone/>
              <a:defRPr sz="1875" b="0">
                <a:solidFill>
                  <a:srgbClr val="15796D"/>
                </a:solidFill>
                <a:latin typeface="Arial Unicode MS"/>
                <a:ea typeface="Arial Unicode MS"/>
                <a:cs typeface="Arial Unicode MS"/>
              </a:defRPr>
            </a:lvl1pPr>
            <a:lvl2pPr>
              <a:buNone/>
              <a:defRPr sz="1875" b="0">
                <a:solidFill>
                  <a:srgbClr val="15796D"/>
                </a:solidFill>
                <a:latin typeface="Arial Unicode MS"/>
                <a:ea typeface="Arial Unicode MS"/>
                <a:cs typeface="Arial Unicode MS"/>
              </a:defRPr>
            </a:lvl2pPr>
            <a:lvl3pPr>
              <a:buNone/>
              <a:defRPr sz="1875" b="0">
                <a:solidFill>
                  <a:srgbClr val="15796D"/>
                </a:solidFill>
                <a:latin typeface="Arial Unicode MS"/>
                <a:ea typeface="Arial Unicode MS"/>
                <a:cs typeface="Arial Unicode MS"/>
              </a:defRPr>
            </a:lvl3pPr>
            <a:lvl4pPr>
              <a:buNone/>
              <a:defRPr sz="1875" b="0">
                <a:solidFill>
                  <a:srgbClr val="15796D"/>
                </a:solidFill>
                <a:latin typeface="Arial Unicode MS"/>
                <a:ea typeface="Arial Unicode MS"/>
                <a:cs typeface="Arial Unicode MS"/>
              </a:defRPr>
            </a:lvl4pPr>
            <a:lvl5pPr>
              <a:buNone/>
              <a:defRPr sz="1875" b="0">
                <a:solidFill>
                  <a:srgbClr val="15796D"/>
                </a:solidFill>
                <a:latin typeface="Arial Unicode MS"/>
                <a:ea typeface="Arial Unicode MS"/>
                <a:cs typeface="Arial Unicode MS"/>
              </a:defRPr>
            </a:lvl5pPr>
            <a:lvl6pPr>
              <a:buNone/>
              <a:defRPr sz="1875" b="0">
                <a:solidFill>
                  <a:srgbClr val="15796D"/>
                </a:solidFill>
                <a:latin typeface="Arial Unicode MS"/>
                <a:ea typeface="Arial Unicode MS"/>
                <a:cs typeface="Arial Unicode MS"/>
              </a:defRPr>
            </a:lvl6pPr>
            <a:lvl7pPr>
              <a:buNone/>
              <a:defRPr sz="1875" b="0">
                <a:solidFill>
                  <a:srgbClr val="15796D"/>
                </a:solidFill>
                <a:latin typeface="Arial Unicode MS"/>
                <a:ea typeface="Arial Unicode MS"/>
                <a:cs typeface="Arial Unicode MS"/>
              </a:defRPr>
            </a:lvl7pPr>
            <a:lvl8pPr>
              <a:buNone/>
              <a:defRPr sz="1875" b="0">
                <a:solidFill>
                  <a:srgbClr val="15796D"/>
                </a:solidFill>
                <a:latin typeface="Arial Unicode MS"/>
                <a:ea typeface="Arial Unicode MS"/>
                <a:cs typeface="Arial Unicode MS"/>
              </a:defRPr>
            </a:lvl8pPr>
            <a:lvl9pPr>
              <a:buNone/>
              <a:defRPr sz="1875" b="0">
                <a:solidFill>
                  <a:srgbClr val="15796D"/>
                </a:solidFill>
                <a:latin typeface="Arial Unicode MS"/>
                <a:ea typeface="Arial Unicode MS"/>
                <a:cs typeface="Arial Unicode MS"/>
              </a:defRPr>
            </a:lvl9pPr>
          </a:lstStyle>
          <a:p xmlns:a="http://schemas.openxmlformats.org/drawingml/2006/main">
            <a:pPr>
              <a:buNone/>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동일 PDF·당시 모델 응답 2개를 사용했습니다.</a:t>
            </a:r>
          </a:p>
          <a:p xmlns:a="http://schemas.openxmlformats.org/drawingml/2006/main">
            <a:pPr>
              <a:buNone/>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현재 코드는 오프라인 재생했으며, 실제 모델 호출은 0회입니다.</a:t>
            </a:r>
          </a:p>
        </p:txBody>
      </p:sp>
      <p:sp>
        <p:nvSpPr>
          <p:cNvPr id="5" name="limit">
            <a:extLst xmlns:a="http://schemas.openxmlformats.org/drawingml/2006/main">
              <a:ext uri="{FF2B5EF4-FFF2-40B4-BE49-F238E27FC236}">
                <a16:creationId xmlns:a16="http://schemas.microsoft.com/office/drawing/2014/main" id="{C16E6A12-F1BE-4A78-A9E8-118B9C3A3EA7}"/>
              </a:ext>
            </a:extLst>
          </p:cNvPr>
          <p:cNvSpPr>
            <a:spLocks xmlns:a="http://schemas.openxmlformats.org/drawingml/2006/main" noGrp="1"/>
          </p:cNvSpPr>
          <p:nvPr/>
        </p:nvSpPr>
        <p:spPr>
          <a:xfrm xmlns:a="http://schemas.openxmlformats.org/drawingml/2006/main">
            <a:off x="609600" y="596265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A54E35"/>
                </a:solidFill>
                <a:latin typeface="Arial Unicode MS"/>
                <a:ea typeface="Arial Unicode MS"/>
                <a:cs typeface="Arial Unicode MS"/>
              </a:defRPr>
            </a:defPPr>
            <a:lvl1pPr>
              <a:buNone/>
              <a:defRPr sz="1575" b="0">
                <a:solidFill>
                  <a:srgbClr val="A54E35"/>
                </a:solidFill>
                <a:latin typeface="Arial Unicode MS"/>
                <a:ea typeface="Arial Unicode MS"/>
                <a:cs typeface="Arial Unicode MS"/>
              </a:defRPr>
            </a:lvl1pPr>
            <a:lvl2pPr>
              <a:buNone/>
              <a:defRPr sz="1575" b="0">
                <a:solidFill>
                  <a:srgbClr val="A54E35"/>
                </a:solidFill>
                <a:latin typeface="Arial Unicode MS"/>
                <a:ea typeface="Arial Unicode MS"/>
                <a:cs typeface="Arial Unicode MS"/>
              </a:defRPr>
            </a:lvl2pPr>
            <a:lvl3pPr>
              <a:buNone/>
              <a:defRPr sz="1575" b="0">
                <a:solidFill>
                  <a:srgbClr val="A54E35"/>
                </a:solidFill>
                <a:latin typeface="Arial Unicode MS"/>
                <a:ea typeface="Arial Unicode MS"/>
                <a:cs typeface="Arial Unicode MS"/>
              </a:defRPr>
            </a:lvl3pPr>
            <a:lvl4pPr>
              <a:buNone/>
              <a:defRPr sz="1575" b="0">
                <a:solidFill>
                  <a:srgbClr val="A54E35"/>
                </a:solidFill>
                <a:latin typeface="Arial Unicode MS"/>
                <a:ea typeface="Arial Unicode MS"/>
                <a:cs typeface="Arial Unicode MS"/>
              </a:defRPr>
            </a:lvl4pPr>
            <a:lvl5pPr>
              <a:buNone/>
              <a:defRPr sz="1575" b="0">
                <a:solidFill>
                  <a:srgbClr val="A54E35"/>
                </a:solidFill>
                <a:latin typeface="Arial Unicode MS"/>
                <a:ea typeface="Arial Unicode MS"/>
                <a:cs typeface="Arial Unicode MS"/>
              </a:defRPr>
            </a:lvl5pPr>
            <a:lvl6pPr>
              <a:buNone/>
              <a:defRPr sz="1575" b="0">
                <a:solidFill>
                  <a:srgbClr val="A54E35"/>
                </a:solidFill>
                <a:latin typeface="Arial Unicode MS"/>
                <a:ea typeface="Arial Unicode MS"/>
                <a:cs typeface="Arial Unicode MS"/>
              </a:defRPr>
            </a:lvl6pPr>
            <a:lvl7pPr>
              <a:buNone/>
              <a:defRPr sz="1575" b="0">
                <a:solidFill>
                  <a:srgbClr val="A54E35"/>
                </a:solidFill>
                <a:latin typeface="Arial Unicode MS"/>
                <a:ea typeface="Arial Unicode MS"/>
                <a:cs typeface="Arial Unicode MS"/>
              </a:defRPr>
            </a:lvl7pPr>
            <a:lvl8pPr>
              <a:buNone/>
              <a:defRPr sz="1575" b="0">
                <a:solidFill>
                  <a:srgbClr val="A54E35"/>
                </a:solidFill>
                <a:latin typeface="Arial Unicode MS"/>
                <a:ea typeface="Arial Unicode MS"/>
                <a:cs typeface="Arial Unicode MS"/>
              </a:defRPr>
            </a:lvl8pPr>
            <a:lvl9pPr>
              <a:buNone/>
              <a:defRPr sz="1575" b="0">
                <a:solidFill>
                  <a:srgbClr val="A54E35"/>
                </a:solidFill>
                <a:latin typeface="Arial Unicode MS"/>
                <a:ea typeface="Arial Unicode MS"/>
                <a:cs typeface="Arial Unicode MS"/>
              </a:defRPr>
            </a:lvl9pPr>
          </a:lstStyle>
          <a:p xmlns:a="http://schemas.openxmlformats.org/drawingml/2006/main">
            <a:pPr>
              <a:buNone/>
              <a:defRPr sz="1575" b="0">
                <a:solidFill>
                  <a:srgbClr val="A54E35"/>
                </a:solidFill>
                <a:latin typeface="Arial Unicode MS"/>
                <a:ea typeface="Arial Unicode MS"/>
                <a:cs typeface="Arial Unicode MS"/>
              </a:defRPr>
            </a:pPr>
            <a:r>
              <a:rPr sz="1575" b="0">
                <a:solidFill>
                  <a:srgbClr val="A54E35"/>
                </a:solidFill>
                <a:latin typeface="Arial Unicode MS"/>
                <a:ea typeface="Arial Unicode MS"/>
                <a:cs typeface="Arial Unicode MS"/>
              </a:rPr>
              <a:t>이전 코드를 새로 실행한 비교는 아닙니다. AI 정확도·속도 개선 수치가 아닙니다.</a:t>
            </a:r>
          </a:p>
        </p:txBody>
      </p:sp>
    </p:spTree>
    <p:extLst>
      <p:ext uri="{BB962C8B-B14F-4D97-AF65-F5344CB8AC3E}">
        <p14:creationId xmlns:p14="http://schemas.microsoft.com/office/powerpoint/2010/main" val="875800321"/>
      </p:ext>
    </p:extLst>
  </p:cSld>
</p:sld>
</file>

<file path=ppt/slides/slide1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8" name="heading">
            <a:extLst xmlns:a="http://schemas.openxmlformats.org/drawingml/2006/main">
              <a:ext uri="{FF2B5EF4-FFF2-40B4-BE49-F238E27FC236}">
                <a16:creationId xmlns:a16="http://schemas.microsoft.com/office/drawing/2014/main" id="{24D6AF47-B456-49B6-A5F9-9776B9394BA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충돌 근거 개선 화면</a:t>
            </a:r>
          </a:p>
        </p:txBody>
      </p:sp>
      <p:sp>
        <p:nvSpPr>
          <p:cNvPr id="2" name="page">
            <a:extLst xmlns:a="http://schemas.openxmlformats.org/drawingml/2006/main">
              <a:ext uri="{FF2B5EF4-FFF2-40B4-BE49-F238E27FC236}">
                <a16:creationId xmlns:a16="http://schemas.microsoft.com/office/drawing/2014/main" id="{E8B6EF28-7402-463D-9F6D-8B40D42834EF}"/>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t>15</a:t>
            </a:r>
          </a:p>
        </p:txBody>
      </p:sp>
      <p:sp>
        <p:nvSpPr>
          <p:cNvPr id="3" name="what">
            <a:extLst xmlns:a="http://schemas.openxmlformats.org/drawingml/2006/main">
              <a:ext uri="{FF2B5EF4-FFF2-40B4-BE49-F238E27FC236}">
                <a16:creationId xmlns:a16="http://schemas.microsoft.com/office/drawing/2014/main" id="{047018CA-1A91-4FE4-8B1C-7CDAC9DA9B26}"/>
              </a:ext>
            </a:extLst>
          </p:cNvPr>
          <p:cNvSpPr>
            <a:spLocks xmlns:a="http://schemas.openxmlformats.org/drawingml/2006/main" noGrp="1"/>
          </p:cNvSpPr>
          <p:nvPr/>
        </p:nvSpPr>
        <p:spPr>
          <a:xfrm xmlns:a="http://schemas.openxmlformats.org/drawingml/2006/main">
            <a:off x="609600" y="1895475"/>
            <a:ext cx="314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5796D"/>
                </a:solidFill>
                <a:latin typeface="Arial Unicode MS"/>
                <a:ea typeface="Arial Unicode MS"/>
                <a:cs typeface="Arial Unicode MS"/>
              </a:defRPr>
            </a:defPPr>
            <a:lvl1pPr>
              <a:defRPr sz="2400" b="1">
                <a:solidFill>
                  <a:srgbClr val="15796D"/>
                </a:solidFill>
                <a:latin typeface="Arial Unicode MS"/>
                <a:ea typeface="Arial Unicode MS"/>
                <a:cs typeface="Arial Unicode MS"/>
              </a:defRPr>
            </a:lvl1pPr>
            <a:lvl2pPr>
              <a:defRPr sz="2400" b="1">
                <a:solidFill>
                  <a:srgbClr val="15796D"/>
                </a:solidFill>
                <a:latin typeface="Arial Unicode MS"/>
                <a:ea typeface="Arial Unicode MS"/>
                <a:cs typeface="Arial Unicode MS"/>
              </a:defRPr>
            </a:lvl2pPr>
            <a:lvl3pPr>
              <a:defRPr sz="2400" b="1">
                <a:solidFill>
                  <a:srgbClr val="15796D"/>
                </a:solidFill>
                <a:latin typeface="Arial Unicode MS"/>
                <a:ea typeface="Arial Unicode MS"/>
                <a:cs typeface="Arial Unicode MS"/>
              </a:defRPr>
            </a:lvl3pPr>
            <a:lvl4pPr>
              <a:defRPr sz="2400" b="1">
                <a:solidFill>
                  <a:srgbClr val="15796D"/>
                </a:solidFill>
                <a:latin typeface="Arial Unicode MS"/>
                <a:ea typeface="Arial Unicode MS"/>
                <a:cs typeface="Arial Unicode MS"/>
              </a:defRPr>
            </a:lvl4pPr>
            <a:lvl5pPr>
              <a:defRPr sz="2400" b="1">
                <a:solidFill>
                  <a:srgbClr val="15796D"/>
                </a:solidFill>
                <a:latin typeface="Arial Unicode MS"/>
                <a:ea typeface="Arial Unicode MS"/>
                <a:cs typeface="Arial Unicode MS"/>
              </a:defRPr>
            </a:lvl5pPr>
            <a:lvl6pPr>
              <a:defRPr sz="2400" b="1">
                <a:solidFill>
                  <a:srgbClr val="15796D"/>
                </a:solidFill>
                <a:latin typeface="Arial Unicode MS"/>
                <a:ea typeface="Arial Unicode MS"/>
                <a:cs typeface="Arial Unicode MS"/>
              </a:defRPr>
            </a:lvl6pPr>
            <a:lvl7pPr>
              <a:defRPr sz="2400" b="1">
                <a:solidFill>
                  <a:srgbClr val="15796D"/>
                </a:solidFill>
                <a:latin typeface="Arial Unicode MS"/>
                <a:ea typeface="Arial Unicode MS"/>
                <a:cs typeface="Arial Unicode MS"/>
              </a:defRPr>
            </a:lvl7pPr>
            <a:lvl8pPr>
              <a:defRPr sz="2400" b="1">
                <a:solidFill>
                  <a:srgbClr val="15796D"/>
                </a:solidFill>
                <a:latin typeface="Arial Unicode MS"/>
                <a:ea typeface="Arial Unicode MS"/>
                <a:cs typeface="Arial Unicode MS"/>
              </a:defRPr>
            </a:lvl8pPr>
            <a:lvl9pPr>
              <a:defRPr sz="2400" b="1">
                <a:solidFill>
                  <a:srgbClr val="15796D"/>
                </a:solidFill>
                <a:latin typeface="Arial Unicode MS"/>
                <a:ea typeface="Arial Unicode MS"/>
                <a:cs typeface="Arial Unicode MS"/>
              </a:defRPr>
            </a:lvl9pPr>
          </a:lstStyle>
          <a:p xmlns:a="http://schemas.openxmlformats.org/drawingml/2006/main">
            <a:pPr>
              <a:defRPr sz="2400" b="1">
                <a:solidFill>
                  <a:srgbClr val="15796D"/>
                </a:solidFill>
                <a:latin typeface="Arial Unicode MS"/>
                <a:ea typeface="Arial Unicode MS"/>
                <a:cs typeface="Arial Unicode MS"/>
              </a:defRPr>
            </a:pPr>
            <a:r>
              <a:rPr sz="2400" b="1">
                <a:solidFill>
                  <a:srgbClr val="15796D"/>
                </a:solidFill>
                <a:latin typeface="Arial Unicode MS"/>
                <a:ea typeface="Arial Unicode MS"/>
                <a:cs typeface="Arial Unicode MS"/>
              </a:rPr>
              <a:t>400 V·440 V</a:t>
            </a:r>
          </a:p>
          <a:p xmlns:a="http://schemas.openxmlformats.org/drawingml/2006/main">
            <a:pPr>
              <a:defRPr sz="2400" b="1">
                <a:solidFill>
                  <a:srgbClr val="15796D"/>
                </a:solidFill>
                <a:latin typeface="Arial Unicode MS"/>
                <a:ea typeface="Arial Unicode MS"/>
                <a:cs typeface="Arial Unicode MS"/>
              </a:defRPr>
            </a:pPr>
            <a:r>
              <a:rPr sz="2400" b="1">
                <a:solidFill>
                  <a:srgbClr val="15796D"/>
                </a:solidFill>
                <a:latin typeface="Arial Unicode MS"/>
                <a:ea typeface="Arial Unicode MS"/>
                <a:cs typeface="Arial Unicode MS"/>
              </a:rPr>
              <a:t>근거 동시 표시</a:t>
            </a:r>
          </a:p>
        </p:txBody>
      </p:sp>
      <p:sp>
        <p:nvSpPr>
          <p:cNvPr id="4" name="evidence">
            <a:extLst xmlns:a="http://schemas.openxmlformats.org/drawingml/2006/main">
              <a:ext uri="{FF2B5EF4-FFF2-40B4-BE49-F238E27FC236}">
                <a16:creationId xmlns:a16="http://schemas.microsoft.com/office/drawing/2014/main" id="{2BBBBD6B-5D03-475C-AA12-5393DE518615}"/>
              </a:ext>
            </a:extLst>
          </p:cNvPr>
          <p:cNvSpPr>
            <a:spLocks xmlns:a="http://schemas.openxmlformats.org/drawingml/2006/main" noGrp="1"/>
          </p:cNvSpPr>
          <p:nvPr/>
        </p:nvSpPr>
        <p:spPr>
          <a:xfrm xmlns:a="http://schemas.openxmlformats.org/drawingml/2006/main">
            <a:off x="609600" y="3419475"/>
            <a:ext cx="314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defRPr sz="1875" b="0">
                <a:solidFill>
                  <a:srgbClr val="173C46"/>
                </a:solidFill>
                <a:latin typeface="Arial Unicode MS"/>
                <a:ea typeface="Arial Unicode MS"/>
                <a:cs typeface="Arial Unicode MS"/>
              </a:defRPr>
            </a:lvl1pPr>
            <a:lvl2pPr>
              <a:defRPr sz="1875" b="0">
                <a:solidFill>
                  <a:srgbClr val="173C46"/>
                </a:solidFill>
                <a:latin typeface="Arial Unicode MS"/>
                <a:ea typeface="Arial Unicode MS"/>
                <a:cs typeface="Arial Unicode MS"/>
              </a:defRPr>
            </a:lvl2pPr>
            <a:lvl3pPr>
              <a:defRPr sz="1875" b="0">
                <a:solidFill>
                  <a:srgbClr val="173C46"/>
                </a:solidFill>
                <a:latin typeface="Arial Unicode MS"/>
                <a:ea typeface="Arial Unicode MS"/>
                <a:cs typeface="Arial Unicode MS"/>
              </a:defRPr>
            </a:lvl3pPr>
            <a:lvl4pPr>
              <a:defRPr sz="1875" b="0">
                <a:solidFill>
                  <a:srgbClr val="173C46"/>
                </a:solidFill>
                <a:latin typeface="Arial Unicode MS"/>
                <a:ea typeface="Arial Unicode MS"/>
                <a:cs typeface="Arial Unicode MS"/>
              </a:defRPr>
            </a:lvl4pPr>
            <a:lvl5pPr>
              <a:defRPr sz="1875" b="0">
                <a:solidFill>
                  <a:srgbClr val="173C46"/>
                </a:solidFill>
                <a:latin typeface="Arial Unicode MS"/>
                <a:ea typeface="Arial Unicode MS"/>
                <a:cs typeface="Arial Unicode MS"/>
              </a:defRPr>
            </a:lvl5pPr>
            <a:lvl6pPr>
              <a:defRPr sz="1875" b="0">
                <a:solidFill>
                  <a:srgbClr val="173C46"/>
                </a:solidFill>
                <a:latin typeface="Arial Unicode MS"/>
                <a:ea typeface="Arial Unicode MS"/>
                <a:cs typeface="Arial Unicode MS"/>
              </a:defRPr>
            </a:lvl6pPr>
            <a:lvl7pPr>
              <a:defRPr sz="1875" b="0">
                <a:solidFill>
                  <a:srgbClr val="173C46"/>
                </a:solidFill>
                <a:latin typeface="Arial Unicode MS"/>
                <a:ea typeface="Arial Unicode MS"/>
                <a:cs typeface="Arial Unicode MS"/>
              </a:defRPr>
            </a:lvl7pPr>
            <a:lvl8pPr>
              <a:defRPr sz="1875" b="0">
                <a:solidFill>
                  <a:srgbClr val="173C46"/>
                </a:solidFill>
                <a:latin typeface="Arial Unicode MS"/>
                <a:ea typeface="Arial Unicode MS"/>
                <a:cs typeface="Arial Unicode MS"/>
              </a:defRPr>
            </a:lvl8pPr>
            <a:lvl9pPr>
              <a:defRPr sz="1875" b="0">
                <a:solidFill>
                  <a:srgbClr val="173C46"/>
                </a:solidFill>
                <a:latin typeface="Arial Unicode MS"/>
                <a:ea typeface="Arial Unicode MS"/>
                <a:cs typeface="Arial Unicode MS"/>
              </a:defRPr>
            </a:lvl9pPr>
          </a:lstStyle>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확인 필요 판정은 유지</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누락된 충돌 근거 보완</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AI 정확도 실험은 아님</a:t>
            </a:r>
          </a:p>
        </p:txBody>
      </p:sp>
      <p:sp>
        <p:nvSpPr>
          <p:cNvPr id="5" name="scope">
            <a:extLst xmlns:a="http://schemas.openxmlformats.org/drawingml/2006/main">
              <a:ext uri="{FF2B5EF4-FFF2-40B4-BE49-F238E27FC236}">
                <a16:creationId xmlns:a16="http://schemas.microsoft.com/office/drawing/2014/main" id="{88B2179B-FF1F-410C-8A41-A327072FF961}"/>
              </a:ext>
            </a:extLst>
          </p:cNvPr>
          <p:cNvSpPr>
            <a:spLocks xmlns:a="http://schemas.openxmlformats.org/drawingml/2006/main" noGrp="1"/>
          </p:cNvSpPr>
          <p:nvPr/>
        </p:nvSpPr>
        <p:spPr>
          <a:xfrm xmlns:a="http://schemas.openxmlformats.org/drawingml/2006/main">
            <a:off x="609600" y="5238750"/>
            <a:ext cx="314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A54E35"/>
                </a:solidFill>
                <a:latin typeface="Arial Unicode MS"/>
                <a:ea typeface="Arial Unicode MS"/>
                <a:cs typeface="Arial Unicode MS"/>
              </a:defRPr>
            </a:defPPr>
            <a:lvl1pPr>
              <a:defRPr sz="1500" b="0">
                <a:solidFill>
                  <a:srgbClr val="A54E35"/>
                </a:solidFill>
                <a:latin typeface="Arial Unicode MS"/>
                <a:ea typeface="Arial Unicode MS"/>
                <a:cs typeface="Arial Unicode MS"/>
              </a:defRPr>
            </a:lvl1pPr>
            <a:lvl2pPr>
              <a:defRPr sz="1500" b="0">
                <a:solidFill>
                  <a:srgbClr val="A54E35"/>
                </a:solidFill>
                <a:latin typeface="Arial Unicode MS"/>
                <a:ea typeface="Arial Unicode MS"/>
                <a:cs typeface="Arial Unicode MS"/>
              </a:defRPr>
            </a:lvl2pPr>
            <a:lvl3pPr>
              <a:defRPr sz="1500" b="0">
                <a:solidFill>
                  <a:srgbClr val="A54E35"/>
                </a:solidFill>
                <a:latin typeface="Arial Unicode MS"/>
                <a:ea typeface="Arial Unicode MS"/>
                <a:cs typeface="Arial Unicode MS"/>
              </a:defRPr>
            </a:lvl3pPr>
            <a:lvl4pPr>
              <a:defRPr sz="1500" b="0">
                <a:solidFill>
                  <a:srgbClr val="A54E35"/>
                </a:solidFill>
                <a:latin typeface="Arial Unicode MS"/>
                <a:ea typeface="Arial Unicode MS"/>
                <a:cs typeface="Arial Unicode MS"/>
              </a:defRPr>
            </a:lvl4pPr>
            <a:lvl5pPr>
              <a:defRPr sz="1500" b="0">
                <a:solidFill>
                  <a:srgbClr val="A54E35"/>
                </a:solidFill>
                <a:latin typeface="Arial Unicode MS"/>
                <a:ea typeface="Arial Unicode MS"/>
                <a:cs typeface="Arial Unicode MS"/>
              </a:defRPr>
            </a:lvl5pPr>
            <a:lvl6pPr>
              <a:defRPr sz="1500" b="0">
                <a:solidFill>
                  <a:srgbClr val="A54E35"/>
                </a:solidFill>
                <a:latin typeface="Arial Unicode MS"/>
                <a:ea typeface="Arial Unicode MS"/>
                <a:cs typeface="Arial Unicode MS"/>
              </a:defRPr>
            </a:lvl6pPr>
            <a:lvl7pPr>
              <a:defRPr sz="1500" b="0">
                <a:solidFill>
                  <a:srgbClr val="A54E35"/>
                </a:solidFill>
                <a:latin typeface="Arial Unicode MS"/>
                <a:ea typeface="Arial Unicode MS"/>
                <a:cs typeface="Arial Unicode MS"/>
              </a:defRPr>
            </a:lvl7pPr>
            <a:lvl8pPr>
              <a:defRPr sz="1500" b="0">
                <a:solidFill>
                  <a:srgbClr val="A54E35"/>
                </a:solidFill>
                <a:latin typeface="Arial Unicode MS"/>
                <a:ea typeface="Arial Unicode MS"/>
                <a:cs typeface="Arial Unicode MS"/>
              </a:defRPr>
            </a:lvl8pPr>
            <a:lvl9pPr>
              <a:defRPr sz="1500" b="0">
                <a:solidFill>
                  <a:srgbClr val="A54E35"/>
                </a:solidFill>
                <a:latin typeface="Arial Unicode MS"/>
                <a:ea typeface="Arial Unicode MS"/>
                <a:cs typeface="Arial Unicode MS"/>
              </a:defRPr>
            </a:lvl9pPr>
          </a:lstStyle>
          <a:p xmlns:a="http://schemas.openxmlformats.org/drawingml/2006/main">
            <a:pPr>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수정 후 화면 일부 확대입니다.</a:t>
            </a:r>
          </a:p>
          <a:p xmlns:a="http://schemas.openxmlformats.org/drawingml/2006/main">
            <a:pPr>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수정 전 UI 캡처와</a:t>
            </a:r>
          </a:p>
          <a:p xmlns:a="http://schemas.openxmlformats.org/drawingml/2006/main">
            <a:pPr>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이전 코드 재실행 비교는</a:t>
            </a:r>
          </a:p>
          <a:p xmlns:a="http://schemas.openxmlformats.org/drawingml/2006/main">
            <a:pPr>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확보하지 않았습니다.</a:t>
            </a:r>
          </a:p>
        </p:txBody>
      </p:sp>
      <p:pic>
        <p:nvPicPr>
          <p:cNvPr id="6" name="">
            <a:extLst xmlns:a="http://schemas.openxmlformats.org/drawingml/2006/main">
              <a:ext uri="{FF2B5EF4-FFF2-40B4-BE49-F238E27FC236}">
                <a16:creationId xmlns:a16="http://schemas.microsoft.com/office/drawing/2014/main" id="{65B564DA-F415-47BB-B432-E75C9F74B310}"/>
              </a:ext>
            </a:extLst>
          </p:cNvPr>
          <p:cNvPicPr>
            <a:picLocks xmlns:a="http://schemas.openxmlformats.org/drawingml/2006/main" noChangeAspect="1"/>
          </p:cNvPicPr>
          <p:nvPr/>
        </p:nvPicPr>
        <p:blipFill>
          <a:blip xmlns:r="http://schemas.openxmlformats.org/officeDocument/2006/relationships" xmlns:a="http://schemas.openxmlformats.org/drawingml/2006/main" r:embed="Rd0e7fa292181442b"/>
          <a:srcRect xmlns:a="http://schemas.openxmlformats.org/drawingml/2006/main" l="3115" t="67834" r="3115" b="19767"/>
          <a:stretch xmlns:a="http://schemas.openxmlformats.org/drawingml/2006/main"/>
        </p:blipFill>
        <p:spPr>
          <a:xfrm xmlns:a="http://schemas.openxmlformats.org/drawingml/2006/main">
            <a:off x="4000500" y="1733550"/>
            <a:ext cx="7429500" cy="20955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4C7CDE77-3315-409C-9804-FEF413D8B4AD}"/>
              </a:ext>
            </a:extLst>
          </p:cNvPr>
          <p:cNvPicPr>
            <a:picLocks xmlns:a="http://schemas.openxmlformats.org/drawingml/2006/main" noChangeAspect="1"/>
          </p:cNvPicPr>
          <p:nvPr/>
        </p:nvPicPr>
        <p:blipFill>
          <a:blip xmlns:r="http://schemas.openxmlformats.org/officeDocument/2006/relationships" xmlns:a="http://schemas.openxmlformats.org/drawingml/2006/main" r:embed="R29e3e3319d80440a"/>
          <a:srcRect xmlns:a="http://schemas.openxmlformats.org/drawingml/2006/main" l="3115" t="83880" r="3115" b="3866"/>
          <a:stretch xmlns:a="http://schemas.openxmlformats.org/drawingml/2006/main"/>
        </p:blipFill>
        <p:spPr>
          <a:xfrm xmlns:a="http://schemas.openxmlformats.org/drawingml/2006/main">
            <a:off x="4000500" y="4000500"/>
            <a:ext cx="7429500" cy="2095500"/>
          </a:xfrm>
          <a:prstGeom xmlns:a="http://schemas.openxmlformats.org/drawingml/2006/main" prst="rect">
            <a:avLst/>
          </a:prstGeom>
        </p:spPr>
      </p:pic>
    </p:spTree>
    <p:extLst>
      <p:ext uri="{BB962C8B-B14F-4D97-AF65-F5344CB8AC3E}">
        <p14:creationId xmlns:p14="http://schemas.microsoft.com/office/powerpoint/2010/main" val="1534192002"/>
      </p:ext>
    </p:extLst>
  </p:cSld>
</p:sld>
</file>

<file path=ppt/slides/slide1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F983EFAA-57AB-4CD9-AE8A-9EB3DA72D19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검토 결과를 회의 자료로 연결</a:t>
            </a:r>
          </a:p>
        </p:txBody>
      </p:sp>
      <p:sp>
        <p:nvSpPr>
          <p:cNvPr id="2" name="page">
            <a:extLst xmlns:a="http://schemas.openxmlformats.org/drawingml/2006/main">
              <a:ext uri="{FF2B5EF4-FFF2-40B4-BE49-F238E27FC236}">
                <a16:creationId xmlns:a16="http://schemas.microsoft.com/office/drawing/2014/main" id="{3F20B86B-FA43-4DAE-B873-6E9056962AC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16</a:t>
            </a:r>
          </a:p>
        </p:txBody>
      </p:sp>
      <p:sp>
        <p:nvSpPr>
          <p:cNvPr id="3" name="closing">
            <a:extLst xmlns:a="http://schemas.openxmlformats.org/drawingml/2006/main">
              <a:ext uri="{FF2B5EF4-FFF2-40B4-BE49-F238E27FC236}">
                <a16:creationId xmlns:a16="http://schemas.microsoft.com/office/drawing/2014/main" id="{F3C40A07-DE04-48D8-A7AF-F2ADB2A89CB6}"/>
              </a:ext>
            </a:extLst>
          </p:cNvPr>
          <p:cNvSpPr>
            <a:spLocks xmlns:a="http://schemas.openxmlformats.org/drawingml/2006/main" noGrp="1"/>
          </p:cNvSpPr>
          <p:nvPr/>
        </p:nvSpPr>
        <p:spPr>
          <a:xfrm xmlns:a="http://schemas.openxmlformats.org/drawingml/2006/main">
            <a:off x="609600" y="1828800"/>
            <a:ext cx="5619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변경 누락과 불일치를</a:t>
            </a:r>
          </a:p>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원문과 함께 확인합니다</a:t>
            </a:r>
          </a:p>
        </p:txBody>
      </p:sp>
      <p:sp>
        <p:nvSpPr>
          <p:cNvPr id="4" name="report">
            <a:extLst xmlns:a="http://schemas.openxmlformats.org/drawingml/2006/main">
              <a:ext uri="{FF2B5EF4-FFF2-40B4-BE49-F238E27FC236}">
                <a16:creationId xmlns:a16="http://schemas.microsoft.com/office/drawing/2014/main" id="{22C442EF-88E6-40A6-A04A-275281C6B8E9}"/>
              </a:ext>
            </a:extLst>
          </p:cNvPr>
          <p:cNvSpPr>
            <a:spLocks xmlns:a="http://schemas.openxmlformats.org/drawingml/2006/main" noGrp="1"/>
          </p:cNvSpPr>
          <p:nvPr/>
        </p:nvSpPr>
        <p:spPr>
          <a:xfrm xmlns:a="http://schemas.openxmlformats.org/drawingml/2006/main">
            <a:off x="609600" y="3648075"/>
            <a:ext cx="5238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검토 확인 후 보고서 열기</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브라우저에서 인쇄·PDF 저장</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저장된 결과와 근거 보존</a:t>
            </a:r>
          </a:p>
        </p:txBody>
      </p:sp>
      <p:pic>
        <p:nvPicPr>
          <p:cNvPr id="5" name="">
            <a:extLst xmlns:a="http://schemas.openxmlformats.org/drawingml/2006/main">
              <a:ext uri="{FF2B5EF4-FFF2-40B4-BE49-F238E27FC236}">
                <a16:creationId xmlns:a16="http://schemas.microsoft.com/office/drawing/2014/main" id="{F9CE3330-7794-4720-B9EE-7096DFC6937F}"/>
              </a:ext>
            </a:extLst>
          </p:cNvPr>
          <p:cNvPicPr>
            <a:picLocks xmlns:a="http://schemas.openxmlformats.org/drawingml/2006/main" noChangeAspect="1"/>
          </p:cNvPicPr>
          <p:nvPr/>
        </p:nvPicPr>
        <p:blipFill>
          <a:blip xmlns:r="http://schemas.openxmlformats.org/officeDocument/2006/relationships" xmlns:a="http://schemas.openxmlformats.org/drawingml/2006/main" r:embed="R6b27a662aed34c52"/>
          <a:stretch xmlns:a="http://schemas.openxmlformats.org/drawingml/2006/main"/>
        </p:blipFill>
        <p:spPr>
          <a:xfrm xmlns:a="http://schemas.openxmlformats.org/drawingml/2006/main">
            <a:off x="6334125" y="2165391"/>
            <a:ext cx="5238750" cy="2498642"/>
          </a:xfrm>
          <a:prstGeom xmlns:a="http://schemas.openxmlformats.org/drawingml/2006/main" prst="rect">
            <a:avLst/>
          </a:prstGeom>
        </p:spPr>
      </p:pic>
      <p:sp>
        <p:nvSpPr>
          <p:cNvPr id="6" name="repo">
            <a:extLst xmlns:a="http://schemas.openxmlformats.org/drawingml/2006/main">
              <a:ext uri="{FF2B5EF4-FFF2-40B4-BE49-F238E27FC236}">
                <a16:creationId xmlns:a16="http://schemas.microsoft.com/office/drawing/2014/main" id="{16EC60CA-40DC-4688-805A-94EFD0B59F63}"/>
              </a:ext>
            </a:extLst>
          </p:cNvPr>
          <p:cNvSpPr>
            <a:spLocks xmlns:a="http://schemas.openxmlformats.org/drawingml/2006/main" noGrp="1"/>
          </p:cNvSpPr>
          <p:nvPr/>
        </p:nvSpPr>
        <p:spPr>
          <a:xfrm xmlns:a="http://schemas.openxmlformats.org/drawingml/2006/main">
            <a:off x="609600" y="5905500"/>
            <a:ext cx="1038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725" b="0">
                <a:solidFill>
                  <a:srgbClr val="53676D"/>
                </a:solidFill>
                <a:latin typeface="Arial Unicode MS"/>
                <a:ea typeface="Arial Unicode MS"/>
                <a:cs typeface="Arial Unicode MS"/>
              </a:defRPr>
            </a:lvl1pPr>
            <a:lvl2pPr>
              <a:buNone/>
              <a:defRPr sz="1725" b="0">
                <a:solidFill>
                  <a:srgbClr val="53676D"/>
                </a:solidFill>
                <a:latin typeface="Arial Unicode MS"/>
                <a:ea typeface="Arial Unicode MS"/>
                <a:cs typeface="Arial Unicode MS"/>
              </a:defRPr>
            </a:lvl2pPr>
            <a:lvl3pPr>
              <a:buNone/>
              <a:defRPr sz="1725" b="0">
                <a:solidFill>
                  <a:srgbClr val="53676D"/>
                </a:solidFill>
                <a:latin typeface="Arial Unicode MS"/>
                <a:ea typeface="Arial Unicode MS"/>
                <a:cs typeface="Arial Unicode MS"/>
              </a:defRPr>
            </a:lvl3pPr>
            <a:lvl4pPr>
              <a:buNone/>
              <a:defRPr sz="1725" b="0">
                <a:solidFill>
                  <a:srgbClr val="53676D"/>
                </a:solidFill>
                <a:latin typeface="Arial Unicode MS"/>
                <a:ea typeface="Arial Unicode MS"/>
                <a:cs typeface="Arial Unicode MS"/>
              </a:defRPr>
            </a:lvl4pPr>
            <a:lvl5pPr>
              <a:buNone/>
              <a:defRPr sz="1725" b="0">
                <a:solidFill>
                  <a:srgbClr val="53676D"/>
                </a:solidFill>
                <a:latin typeface="Arial Unicode MS"/>
                <a:ea typeface="Arial Unicode MS"/>
                <a:cs typeface="Arial Unicode MS"/>
              </a:defRPr>
            </a:lvl5pPr>
            <a:lvl6pPr>
              <a:buNone/>
              <a:defRPr sz="1725" b="0">
                <a:solidFill>
                  <a:srgbClr val="53676D"/>
                </a:solidFill>
                <a:latin typeface="Arial Unicode MS"/>
                <a:ea typeface="Arial Unicode MS"/>
                <a:cs typeface="Arial Unicode MS"/>
              </a:defRPr>
            </a:lvl6pPr>
            <a:lvl7pPr>
              <a:buNone/>
              <a:defRPr sz="1725" b="0">
                <a:solidFill>
                  <a:srgbClr val="53676D"/>
                </a:solidFill>
                <a:latin typeface="Arial Unicode MS"/>
                <a:ea typeface="Arial Unicode MS"/>
                <a:cs typeface="Arial Unicode MS"/>
              </a:defRPr>
            </a:lvl7pPr>
            <a:lvl8pPr>
              <a:buNone/>
              <a:defRPr sz="1725" b="0">
                <a:solidFill>
                  <a:srgbClr val="53676D"/>
                </a:solidFill>
                <a:latin typeface="Arial Unicode MS"/>
                <a:ea typeface="Arial Unicode MS"/>
                <a:cs typeface="Arial Unicode MS"/>
              </a:defRPr>
            </a:lvl8pPr>
            <a:lvl9pPr>
              <a:buNone/>
              <a:defRPr sz="172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github.com/seogdo/transformer-spec-review</a:t>
            </a:r>
          </a:p>
        </p:txBody>
      </p:sp>
    </p:spTree>
    <p:extLst>
      <p:ext uri="{BB962C8B-B14F-4D97-AF65-F5344CB8AC3E}">
        <p14:creationId xmlns:p14="http://schemas.microsoft.com/office/powerpoint/2010/main" val="875584103"/>
      </p:ext>
    </p:extLst>
  </p:cSld>
</p:sld>
</file>

<file path=ppt/slides/slide1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8B2BA9B-8078-4DA8-8BE7-0F3745FBB44D}"/>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교재 평가 기준과 대응</a:t>
            </a:r>
          </a:p>
        </p:txBody>
      </p:sp>
      <p:sp>
        <p:nvSpPr>
          <p:cNvPr id="2" name="page">
            <a:extLst xmlns:a="http://schemas.openxmlformats.org/drawingml/2006/main">
              <a:ext uri="{FF2B5EF4-FFF2-40B4-BE49-F238E27FC236}">
                <a16:creationId xmlns:a16="http://schemas.microsoft.com/office/drawing/2014/main" id="{CEF0B795-F08D-48C0-97F7-5E565A24C65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17</a:t>
            </a:r>
          </a:p>
        </p:txBody>
      </p:sp>
      <p:graphicFrame>
        <p:nvGraphicFramePr>
          <p:cNvPr id="3" name="">
            <a:extLst xmlns:a="http://schemas.openxmlformats.org/drawingml/2006/main">
              <a:ext uri="{FF2B5EF4-FFF2-40B4-BE49-F238E27FC236}">
                <a16:creationId xmlns:a16="http://schemas.microsoft.com/office/drawing/2014/main" id="{8710C8A2-D77A-4F31-BDE4-746CE05D4E87}"/>
              </a:ext>
            </a:extLst>
          </p:cNvPr>
          <p:cNvGraphicFramePr/>
          <p:nvPr/>
        </p:nvGraphicFramePr>
        <p:xfrm>
          <a:off xmlns:a="http://schemas.openxmlformats.org/drawingml/2006/main" x="609600" y="1638300"/>
          <a:ext xmlns:a="http://schemas.openxmlformats.org/drawingml/2006/main" cx="10972800" cy="4229100"/>
        </p:xfrm>
        <a:graphic xmlns:a="http://schemas.openxmlformats.org/drawingml/2006/main">
          <a:graphicData uri="http://schemas.openxmlformats.org/drawingml/2006/table">
            <a:tbl>
              <a:tblPr/>
              <a:tblGrid>
                <a:gridCol w="3143250"/>
                <a:gridCol w="7829550"/>
              </a:tblGrid>
              <a:tr h="704850">
                <a:tc>
                  <a:txBody>
                    <a:bodyPr/>
                    <a:lstStyle/>
                    <a:p>
                      <a:r>
                        <a:rPr sz="1725" b="1">
                          <a:solidFill>
                            <a:srgbClr val="FFFFFF"/>
                          </a:solidFill>
                          <a:latin typeface="Arial Unicode MS"/>
                          <a:ea typeface="Arial Unicode MS"/>
                          <a:cs typeface="Arial Unicode MS"/>
                        </a:rPr>
                        <a:t>평가 영역</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725" b="1">
                          <a:solidFill>
                            <a:srgbClr val="FFFFFF"/>
                          </a:solidFill>
                          <a:latin typeface="Arial Unicode MS"/>
                          <a:ea typeface="Arial Unicode MS"/>
                          <a:cs typeface="Arial Unicode MS"/>
                        </a:rPr>
                        <a:t>현재 제시할 증거</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04850">
                <a:tc>
                  <a:txBody>
                    <a:bodyPr/>
                    <a:lstStyle/>
                    <a:p>
                      <a:r>
                        <a:rPr sz="1725" b="0">
                          <a:solidFill>
                            <a:srgbClr val="173C46"/>
                          </a:solidFill>
                          <a:latin typeface="Arial Unicode MS"/>
                          <a:ea typeface="Arial Unicode MS"/>
                          <a:cs typeface="Arial Unicode MS"/>
                        </a:rPr>
                        <a:t>기능 구현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V01·V02·V03 실제 동작과 원문 연결</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기술 요소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키워드 RAG, 구조화 검증, 의존성 주입, 모듈·테스트</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한계 설명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지원 형식, 보류 부담, 검색·로컬 실행 제약</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발표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주제·결과 2분 + Python 실행 흐름·RAG·검증 코드 3분</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실측 비교 보너스 10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참고 기록 비교만 제시 · 정식 전후 성능 실험은 미실시</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cope">
            <a:extLst xmlns:a="http://schemas.openxmlformats.org/drawingml/2006/main">
              <a:ext uri="{FF2B5EF4-FFF2-40B4-BE49-F238E27FC236}">
                <a16:creationId xmlns:a16="http://schemas.microsoft.com/office/drawing/2014/main" id="{09D807EA-4F5A-41CE-A63E-72C5DB3CAB10}"/>
              </a:ext>
            </a:extLst>
          </p:cNvPr>
          <p:cNvSpPr>
            <a:spLocks xmlns:a="http://schemas.openxmlformats.org/drawingml/2006/main" noGrp="1"/>
          </p:cNvSpPr>
          <p:nvPr/>
        </p:nvSpPr>
        <p:spPr>
          <a:xfrm xmlns:a="http://schemas.openxmlformats.org/drawingml/2006/main">
            <a:off x="609600" y="60960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53676D"/>
                </a:solidFill>
                <a:latin typeface="Arial Unicode MS"/>
                <a:ea typeface="Arial Unicode MS"/>
                <a:cs typeface="Arial Unicode MS"/>
              </a:defRPr>
            </a:defPPr>
            <a:lvl1pPr>
              <a:buNone/>
              <a:defRPr sz="1425" b="0">
                <a:solidFill>
                  <a:srgbClr val="53676D"/>
                </a:solidFill>
                <a:latin typeface="Arial Unicode MS"/>
                <a:ea typeface="Arial Unicode MS"/>
                <a:cs typeface="Arial Unicode MS"/>
              </a:defRPr>
            </a:lvl1pPr>
            <a:lvl2pPr>
              <a:buNone/>
              <a:defRPr sz="1425" b="0">
                <a:solidFill>
                  <a:srgbClr val="53676D"/>
                </a:solidFill>
                <a:latin typeface="Arial Unicode MS"/>
                <a:ea typeface="Arial Unicode MS"/>
                <a:cs typeface="Arial Unicode MS"/>
              </a:defRPr>
            </a:lvl2pPr>
            <a:lvl3pPr>
              <a:buNone/>
              <a:defRPr sz="1425" b="0">
                <a:solidFill>
                  <a:srgbClr val="53676D"/>
                </a:solidFill>
                <a:latin typeface="Arial Unicode MS"/>
                <a:ea typeface="Arial Unicode MS"/>
                <a:cs typeface="Arial Unicode MS"/>
              </a:defRPr>
            </a:lvl3pPr>
            <a:lvl4pPr>
              <a:buNone/>
              <a:defRPr sz="1425" b="0">
                <a:solidFill>
                  <a:srgbClr val="53676D"/>
                </a:solidFill>
                <a:latin typeface="Arial Unicode MS"/>
                <a:ea typeface="Arial Unicode MS"/>
                <a:cs typeface="Arial Unicode MS"/>
              </a:defRPr>
            </a:lvl4pPr>
            <a:lvl5pPr>
              <a:buNone/>
              <a:defRPr sz="1425" b="0">
                <a:solidFill>
                  <a:srgbClr val="53676D"/>
                </a:solidFill>
                <a:latin typeface="Arial Unicode MS"/>
                <a:ea typeface="Arial Unicode MS"/>
                <a:cs typeface="Arial Unicode MS"/>
              </a:defRPr>
            </a:lvl5pPr>
            <a:lvl6pPr>
              <a:buNone/>
              <a:defRPr sz="1425" b="0">
                <a:solidFill>
                  <a:srgbClr val="53676D"/>
                </a:solidFill>
                <a:latin typeface="Arial Unicode MS"/>
                <a:ea typeface="Arial Unicode MS"/>
                <a:cs typeface="Arial Unicode MS"/>
              </a:defRPr>
            </a:lvl6pPr>
            <a:lvl7pPr>
              <a:buNone/>
              <a:defRPr sz="1425" b="0">
                <a:solidFill>
                  <a:srgbClr val="53676D"/>
                </a:solidFill>
                <a:latin typeface="Arial Unicode MS"/>
                <a:ea typeface="Arial Unicode MS"/>
                <a:cs typeface="Arial Unicode MS"/>
              </a:defRPr>
            </a:lvl7pPr>
            <a:lvl8pPr>
              <a:buNone/>
              <a:defRPr sz="1425" b="0">
                <a:solidFill>
                  <a:srgbClr val="53676D"/>
                </a:solidFill>
                <a:latin typeface="Arial Unicode MS"/>
                <a:ea typeface="Arial Unicode MS"/>
                <a:cs typeface="Arial Unicode MS"/>
              </a:defRPr>
            </a:lvl8pPr>
            <a:lvl9pPr>
              <a:buNone/>
              <a:defRPr sz="1425" b="0">
                <a:solidFill>
                  <a:srgbClr val="53676D"/>
                </a:solidFill>
                <a:latin typeface="Arial Unicode MS"/>
                <a:ea typeface="Arial Unicode MS"/>
                <a:cs typeface="Arial Unicode MS"/>
              </a:defRPr>
            </a:lvl9pPr>
          </a:lstStyle>
          <a:p xmlns:a="http://schemas.openxmlformats.org/drawingml/2006/main">
            <a:pPr>
              <a:buNone/>
              <a:defRPr sz="1500" b="0">
                <a:solidFill>
                  <a:srgbClr val="53676D"/>
                </a:solidFill>
                <a:latin typeface="Arial Unicode MS"/>
                <a:ea typeface="Arial Unicode MS"/>
                <a:cs typeface="Arial Unicode MS"/>
              </a:defRPr>
            </a:pPr>
            <a:r>
              <a:rPr sz="1500" b="0">
                <a:solidFill>
                  <a:srgbClr val="53676D"/>
                </a:solidFill>
                <a:latin typeface="Arial Unicode MS"/>
                <a:ea typeface="Arial Unicode MS"/>
                <a:cs typeface="Arial Unicode MS"/>
              </a:rPr>
              <a:t>교재 기준의 대응 근거입니다. 선택 실측 비교의 보너스 충족을 단정하지 않습니다.</a:t>
            </a:r>
          </a:p>
        </p:txBody>
      </p:sp>
    </p:spTree>
    <p:extLst>
      <p:ext uri="{BB962C8B-B14F-4D97-AF65-F5344CB8AC3E}">
        <p14:creationId xmlns:p14="http://schemas.microsoft.com/office/powerpoint/2010/main" val="13181513"/>
      </p:ext>
    </p:extLst>
  </p:cSld>
</p:sld>
</file>

<file path=ppt/slides/slide1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93B182B3-746C-4342-A783-C15FEFBA62A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예상 질문과 답변</a:t>
            </a:r>
          </a:p>
        </p:txBody>
      </p:sp>
      <p:sp>
        <p:nvSpPr>
          <p:cNvPr id="2" name="page">
            <a:extLst xmlns:a="http://schemas.openxmlformats.org/drawingml/2006/main">
              <a:ext uri="{FF2B5EF4-FFF2-40B4-BE49-F238E27FC236}">
                <a16:creationId xmlns:a16="http://schemas.microsoft.com/office/drawing/2014/main" id="{02F1E65D-5A01-4F64-8769-08C934D7F87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18</a:t>
            </a:r>
          </a:p>
        </p:txBody>
      </p:sp>
      <p:sp>
        <p:nvSpPr>
          <p:cNvPr id="3" name="q0">
            <a:extLst xmlns:a="http://schemas.openxmlformats.org/drawingml/2006/main">
              <a:ext uri="{FF2B5EF4-FFF2-40B4-BE49-F238E27FC236}">
                <a16:creationId xmlns:a16="http://schemas.microsoft.com/office/drawing/2014/main" id="{E421AC09-FB57-43A7-A9C6-E9476054F264}"/>
              </a:ext>
            </a:extLst>
          </p:cNvPr>
          <p:cNvSpPr>
            <a:spLocks xmlns:a="http://schemas.openxmlformats.org/drawingml/2006/main" noGrp="1"/>
          </p:cNvSpPr>
          <p:nvPr/>
        </p:nvSpPr>
        <p:spPr>
          <a:xfrm xmlns:a="http://schemas.openxmlformats.org/drawingml/2006/main">
            <a:off x="609600" y="16668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AI가 꼭 필요한가요</a:t>
            </a:r>
          </a:p>
        </p:txBody>
      </p:sp>
      <p:sp>
        <p:nvSpPr>
          <p:cNvPr id="4" name="a0">
            <a:extLst xmlns:a="http://schemas.openxmlformats.org/drawingml/2006/main">
              <a:ext uri="{FF2B5EF4-FFF2-40B4-BE49-F238E27FC236}">
                <a16:creationId xmlns:a16="http://schemas.microsoft.com/office/drawing/2014/main" id="{6B4BF224-0772-46F5-9A39-D947FC507CD6}"/>
              </a:ext>
            </a:extLst>
          </p:cNvPr>
          <p:cNvSpPr>
            <a:spLocks xmlns:a="http://schemas.openxmlformats.org/drawingml/2006/main" noGrp="1"/>
          </p:cNvSpPr>
          <p:nvPr/>
        </p:nvSpPr>
        <p:spPr>
          <a:xfrm xmlns:a="http://schemas.openxmlformats.org/drawingml/2006/main">
            <a:off x="609600" y="211455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제한된 형식에서는 규칙도 가능합니다. AI의 추가 효용은 비교 실험이 필요합니다.</a:t>
            </a:r>
          </a:p>
        </p:txBody>
      </p:sp>
      <p:sp>
        <p:nvSpPr>
          <p:cNvPr id="5" name="q1">
            <a:extLst xmlns:a="http://schemas.openxmlformats.org/drawingml/2006/main">
              <a:ext uri="{FF2B5EF4-FFF2-40B4-BE49-F238E27FC236}">
                <a16:creationId xmlns:a16="http://schemas.microsoft.com/office/drawing/2014/main" id="{9C14A162-472F-43A5-AB24-EF312B4B2E59}"/>
              </a:ext>
            </a:extLst>
          </p:cNvPr>
          <p:cNvSpPr>
            <a:spLocks xmlns:a="http://schemas.openxmlformats.org/drawingml/2006/main" noGrp="1"/>
          </p:cNvSpPr>
          <p:nvPr/>
        </p:nvSpPr>
        <p:spPr>
          <a:xfrm xmlns:a="http://schemas.openxmlformats.org/drawingml/2006/main">
            <a:off x="609600" y="28003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어디에 RAG를 사용했나요</a:t>
            </a:r>
          </a:p>
        </p:txBody>
      </p:sp>
      <p:sp>
        <p:nvSpPr>
          <p:cNvPr id="6" name="a1">
            <a:extLst xmlns:a="http://schemas.openxmlformats.org/drawingml/2006/main">
              <a:ext uri="{FF2B5EF4-FFF2-40B4-BE49-F238E27FC236}">
                <a16:creationId xmlns:a16="http://schemas.microsoft.com/office/drawing/2014/main" id="{6989BD60-3183-41E8-9394-86087A3F5656}"/>
              </a:ext>
            </a:extLst>
          </p:cNvPr>
          <p:cNvSpPr>
            <a:spLocks xmlns:a="http://schemas.openxmlformats.org/drawingml/2006/main" noGrp="1"/>
          </p:cNvSpPr>
          <p:nvPr/>
        </p:nvSpPr>
        <p:spPr>
          <a:xfrm xmlns:a="http://schemas.openxmlformats.org/drawingml/2006/main">
            <a:off x="609600" y="324802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관련 원문을 검색해 AI에 전달합니다. 키워드 기반이며 벡터 검색은 없습니다.</a:t>
            </a:r>
          </a:p>
        </p:txBody>
      </p:sp>
      <p:sp>
        <p:nvSpPr>
          <p:cNvPr id="7" name="q2">
            <a:extLst xmlns:a="http://schemas.openxmlformats.org/drawingml/2006/main">
              <a:ext uri="{FF2B5EF4-FFF2-40B4-BE49-F238E27FC236}">
                <a16:creationId xmlns:a16="http://schemas.microsoft.com/office/drawing/2014/main" id="{22299E9D-EB5E-4320-8226-EBBA3CA7532E}"/>
              </a:ext>
            </a:extLst>
          </p:cNvPr>
          <p:cNvSpPr>
            <a:spLocks xmlns:a="http://schemas.openxmlformats.org/drawingml/2006/main" noGrp="1"/>
          </p:cNvSpPr>
          <p:nvPr/>
        </p:nvSpPr>
        <p:spPr>
          <a:xfrm xmlns:a="http://schemas.openxmlformats.org/drawingml/2006/main">
            <a:off x="609600" y="3933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정확도와 시간 절감률은 얼마인가요</a:t>
            </a:r>
          </a:p>
        </p:txBody>
      </p:sp>
      <p:sp>
        <p:nvSpPr>
          <p:cNvPr id="8" name="a2">
            <a:extLst xmlns:a="http://schemas.openxmlformats.org/drawingml/2006/main">
              <a:ext uri="{FF2B5EF4-FFF2-40B4-BE49-F238E27FC236}">
                <a16:creationId xmlns:a16="http://schemas.microsoft.com/office/drawing/2014/main" id="{DCD487E1-9899-451F-8C06-EF839CFA90C1}"/>
              </a:ext>
            </a:extLst>
          </p:cNvPr>
          <p:cNvSpPr>
            <a:spLocks xmlns:a="http://schemas.openxmlformats.org/drawingml/2006/main" noGrp="1"/>
          </p:cNvSpPr>
          <p:nvPr/>
        </p:nvSpPr>
        <p:spPr>
          <a:xfrm xmlns:a="http://schemas.openxmlformats.org/drawingml/2006/main">
            <a:off x="609600" y="438150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가상 동작 확인과 코드 검사는 했지만, 현업 정확도와 절감률은 미측정입니다.</a:t>
            </a:r>
          </a:p>
        </p:txBody>
      </p:sp>
      <p:sp>
        <p:nvSpPr>
          <p:cNvPr id="9" name="q3">
            <a:extLst xmlns:a="http://schemas.openxmlformats.org/drawingml/2006/main">
              <a:ext uri="{FF2B5EF4-FFF2-40B4-BE49-F238E27FC236}">
                <a16:creationId xmlns:a16="http://schemas.microsoft.com/office/drawing/2014/main" id="{7C209EBB-7315-4251-A01B-B00A50BC3263}"/>
              </a:ext>
            </a:extLst>
          </p:cNvPr>
          <p:cNvSpPr>
            <a:spLocks xmlns:a="http://schemas.openxmlformats.org/drawingml/2006/main" noGrp="1"/>
          </p:cNvSpPr>
          <p:nvPr/>
        </p:nvSpPr>
        <p:spPr>
          <a:xfrm xmlns:a="http://schemas.openxmlformats.org/drawingml/2006/main">
            <a:off x="609600" y="50673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담당자 확인이 설계 승인인가요</a:t>
            </a:r>
          </a:p>
        </p:txBody>
      </p:sp>
      <p:sp>
        <p:nvSpPr>
          <p:cNvPr id="10" name="a3">
            <a:extLst xmlns:a="http://schemas.openxmlformats.org/drawingml/2006/main">
              <a:ext uri="{FF2B5EF4-FFF2-40B4-BE49-F238E27FC236}">
                <a16:creationId xmlns:a16="http://schemas.microsoft.com/office/drawing/2014/main" id="{D90455D9-47CB-4AC7-BA22-AC357419731D}"/>
              </a:ext>
            </a:extLst>
          </p:cNvPr>
          <p:cNvSpPr>
            <a:spLocks xmlns:a="http://schemas.openxmlformats.org/drawingml/2006/main" noGrp="1"/>
          </p:cNvSpPr>
          <p:nvPr/>
        </p:nvSpPr>
        <p:spPr>
          <a:xfrm xmlns:a="http://schemas.openxmlformats.org/drawingml/2006/main">
            <a:off x="609600" y="551497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문서 차이 확인을 돕는 절차입니다. 실제 결재·권한 인증·안전 판단은 별도입니다.</a:t>
            </a:r>
          </a:p>
        </p:txBody>
      </p:sp>
    </p:spTree>
    <p:extLst>
      <p:ext uri="{BB962C8B-B14F-4D97-AF65-F5344CB8AC3E}">
        <p14:creationId xmlns:p14="http://schemas.microsoft.com/office/powerpoint/2010/main" val="773200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2026-10-21T02:21:49.2800000Z</dcterms:created>
  <dcterms:modified xsi:type="dcterms:W3CDTF">2026-10-21T02:21:49.2800000Z</dcterms:modified>
</coreProperties>
</file>